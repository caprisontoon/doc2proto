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35" r:id="rId2"/>
    <p:sldMasterId id="2147483741" r:id="rId3"/>
  </p:sldMasterIdLst>
  <p:notesMasterIdLst>
    <p:notesMasterId r:id="rId21"/>
  </p:notesMasterIdLst>
  <p:handoutMasterIdLst>
    <p:handoutMasterId r:id="rId22"/>
  </p:handoutMasterIdLst>
  <p:sldIdLst>
    <p:sldId id="1074" r:id="rId4"/>
    <p:sldId id="1082" r:id="rId5"/>
    <p:sldId id="1497" r:id="rId6"/>
    <p:sldId id="1291" r:id="rId7"/>
    <p:sldId id="1512" r:id="rId8"/>
    <p:sldId id="1514" r:id="rId9"/>
    <p:sldId id="1520" r:id="rId10"/>
    <p:sldId id="1521" r:id="rId11"/>
    <p:sldId id="1516" r:id="rId12"/>
    <p:sldId id="1515" r:id="rId13"/>
    <p:sldId id="1522" r:id="rId14"/>
    <p:sldId id="1517" r:id="rId15"/>
    <p:sldId id="1523" r:id="rId16"/>
    <p:sldId id="1518" r:id="rId17"/>
    <p:sldId id="1519" r:id="rId18"/>
    <p:sldId id="933" r:id="rId19"/>
    <p:sldId id="1513" r:id="rId20"/>
  </p:sldIdLst>
  <p:sldSz cx="12192000" cy="6858000"/>
  <p:notesSz cx="6889750" cy="100218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41313" indent="115888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682625" indent="2317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025525" indent="3460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366838" indent="461963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2" orient="horz" pos="4315" userDrawn="1">
          <p15:clr>
            <a:srgbClr val="A4A3A4"/>
          </p15:clr>
        </p15:guide>
        <p15:guide id="3" orient="horz" pos="3997" userDrawn="1">
          <p15:clr>
            <a:srgbClr val="A4A3A4"/>
          </p15:clr>
        </p15:guide>
        <p15:guide id="4" orient="horz" pos="731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pos="1935" userDrawn="1">
          <p15:clr>
            <a:srgbClr val="A4A3A4"/>
          </p15:clr>
        </p15:guide>
        <p15:guide id="8" pos="3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준호 권" initials="준권" lastIdx="2" clrIdx="0">
    <p:extLst>
      <p:ext uri="{19B8F6BF-5375-455C-9EA6-DF929625EA0E}">
        <p15:presenceInfo xmlns:p15="http://schemas.microsoft.com/office/powerpoint/2012/main" userId="05e239e90f16a0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2FC"/>
    <a:srgbClr val="E9EDF4"/>
    <a:srgbClr val="F3F5FA"/>
    <a:srgbClr val="CC7A00"/>
    <a:srgbClr val="FAE6E8"/>
    <a:srgbClr val="4655E6"/>
    <a:srgbClr val="E9EBFD"/>
    <a:srgbClr val="F3F6FF"/>
    <a:srgbClr val="FBFCFF"/>
    <a:srgbClr val="EE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01" autoAdjust="0"/>
    <p:restoredTop sz="91381" autoAdjust="0"/>
  </p:normalViewPr>
  <p:slideViewPr>
    <p:cSldViewPr>
      <p:cViewPr varScale="1">
        <p:scale>
          <a:sx n="109" d="100"/>
          <a:sy n="109" d="100"/>
        </p:scale>
        <p:origin x="240" y="78"/>
      </p:cViewPr>
      <p:guideLst>
        <p:guide orient="horz" pos="1593"/>
        <p:guide orient="horz" pos="4315"/>
        <p:guide orient="horz" pos="3997"/>
        <p:guide orient="horz" pos="731"/>
        <p:guide pos="211"/>
        <p:guide pos="1935"/>
        <p:guide pos="325"/>
      </p:guideLst>
    </p:cSldViewPr>
  </p:slideViewPr>
  <p:outlineViewPr>
    <p:cViewPr>
      <p:scale>
        <a:sx n="33" d="100"/>
        <a:sy n="33" d="100"/>
      </p:scale>
      <p:origin x="0" y="-99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4014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4844957C-5EF4-452B-8E5D-B916F06B2912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1832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25EAF9E1-4B6D-4930-A2C9-56C80F5FB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808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156E74EC-D393-4EE5-9F3A-C913182923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337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8" tIns="46219" rIns="92438" bIns="4621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9" y="4760116"/>
            <a:ext cx="5512444" cy="4510090"/>
          </a:xfrm>
          <a:prstGeom prst="rect">
            <a:avLst/>
          </a:prstGeom>
        </p:spPr>
        <p:txBody>
          <a:bodyPr vert="horz" lIns="92438" tIns="46219" rIns="92438" bIns="4621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2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DE28D96F-A56B-4E47-8431-30AAB513CF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03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투네이션 표지(앞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9FE0A7-079A-4188-B22C-DB8A6037B756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393939"/>
          </a:solidFill>
          <a:ln w="12700">
            <a:noFill/>
            <a:prstDash val="dash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06FB1C97-78AE-46DF-B11C-C5581389ED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1720" y="1851456"/>
            <a:ext cx="2782069" cy="3153011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389D496-6247-46EC-BAEF-D149AA016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투네이션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A08976C6-74B5-4CBB-9284-20A4A023E1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788" y="512763"/>
            <a:ext cx="826665" cy="117500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A0B67B-DEC2-4F3C-904F-CA399DD65E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58E628C0-DF7D-4D8A-A951-204461C98B9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B6D90BBE-8A2B-4FF3-B486-8D8D660C24C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태동민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C69DB8-AACF-48B7-8967-97565A1FA1A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sp>
        <p:nvSpPr>
          <p:cNvPr id="14" name="텍스트 개체 틀 29">
            <a:extLst>
              <a:ext uri="{FF2B5EF4-FFF2-40B4-BE49-F238E27FC236}">
                <a16:creationId xmlns:a16="http://schemas.microsoft.com/office/drawing/2014/main" id="{4D072484-C059-4844-90C0-0558022D39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52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  <p15:guide id="4" orient="horz" pos="323" userDrawn="1">
          <p15:clr>
            <a:srgbClr val="FBAE40"/>
          </p15:clr>
        </p15:guide>
        <p15:guide id="5" pos="715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라디오 표지(앞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9FE0A7-079A-4188-B22C-DB8A6037B756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393939"/>
          </a:solidFill>
          <a:ln w="12700">
            <a:noFill/>
            <a:prstDash val="dash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389D496-6247-46EC-BAEF-D149AA016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투네이션</a:t>
            </a:r>
            <a:r>
              <a:rPr lang="ko-KR" altLang="en-US" dirty="0"/>
              <a:t> 라디오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A08976C6-74B5-4CBB-9284-20A4A023E1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512763"/>
            <a:ext cx="826665" cy="117500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A0B67B-DEC2-4F3C-904F-CA399DD65E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58E628C0-DF7D-4D8A-A951-204461C98B9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B6D90BBE-8A2B-4FF3-B486-8D8D660C24C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태동민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063E25BF-107D-4C35-B22F-5D9D82143A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C69DB8-AACF-48B7-8967-97565A1FA1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A1812E7-D049-4DD5-9534-7AFB315774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488" y="1613270"/>
            <a:ext cx="27813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4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9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orient="horz" pos="323">
          <p15:clr>
            <a:srgbClr val="FBAE40"/>
          </p15:clr>
        </p15:guide>
        <p15:guide id="5" pos="715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스플 표지(앞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9FE0A7-079A-4188-B22C-DB8A6037B756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393939"/>
          </a:solidFill>
          <a:ln w="12700">
            <a:noFill/>
            <a:prstDash val="dash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389D496-6247-46EC-BAEF-D149AA016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스플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A08976C6-74B5-4CBB-9284-20A4A023E1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512763"/>
            <a:ext cx="826665" cy="117500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A0B67B-DEC2-4F3C-904F-CA399DD65E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58E628C0-DF7D-4D8A-A951-204461C98B9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B6D90BBE-8A2B-4FF3-B486-8D8D660C24C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태동민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063E25BF-107D-4C35-B22F-5D9D82143A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C69DB8-AACF-48B7-8967-97565A1FA1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EA7E19A8-2FB7-47C1-86A2-6F7A4FCF94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6320" y="1848249"/>
            <a:ext cx="2169476" cy="274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15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9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orient="horz" pos="323">
          <p15:clr>
            <a:srgbClr val="FBAE40"/>
          </p15:clr>
        </p15:guide>
        <p15:guide id="5" pos="715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아이온 표지(앞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9FE0A7-079A-4188-B22C-DB8A6037B756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393939"/>
          </a:solidFill>
          <a:ln w="12700">
            <a:noFill/>
            <a:prstDash val="dash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389D496-6247-46EC-BAEF-D149AA016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아이온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A08976C6-74B5-4CBB-9284-20A4A023E1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512763"/>
            <a:ext cx="826665" cy="117500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A0B67B-DEC2-4F3C-904F-CA399DD65E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58E628C0-DF7D-4D8A-A951-204461C98B9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B6D90BBE-8A2B-4FF3-B486-8D8D660C24C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태동민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063E25BF-107D-4C35-B22F-5D9D82143A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C69DB8-AACF-48B7-8967-97565A1FA1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FEF81E8C-CA2A-4E1F-9942-D2E79CEC127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8817" y="1835949"/>
            <a:ext cx="2868945" cy="292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73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9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orient="horz" pos="323">
          <p15:clr>
            <a:srgbClr val="FBAE40"/>
          </p15:clr>
        </p15:guide>
        <p15:guide id="5" pos="715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더굿즈 표지(앞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9FE0A7-079A-4188-B22C-DB8A6037B756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393939"/>
          </a:solidFill>
          <a:ln w="12700">
            <a:noFill/>
            <a:prstDash val="dash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389D496-6247-46EC-BAEF-D149AA016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더굿즈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A08976C6-74B5-4CBB-9284-20A4A023E1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512763"/>
            <a:ext cx="826665" cy="117500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A0B67B-DEC2-4F3C-904F-CA399DD65E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58E628C0-DF7D-4D8A-A951-204461C98B9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B6D90BBE-8A2B-4FF3-B486-8D8D660C24C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태동민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063E25BF-107D-4C35-B22F-5D9D82143A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C69DB8-AACF-48B7-8967-97565A1FA1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111AEA3-885F-4BA2-8CD6-9E56497622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284" y="1812076"/>
            <a:ext cx="2633377" cy="298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03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9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orient="horz" pos="323">
          <p15:clr>
            <a:srgbClr val="FBAE40"/>
          </p15:clr>
        </p15:guide>
        <p15:guide id="5" pos="715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투스라이프 표지(앞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9FE0A7-079A-4188-B22C-DB8A6037B756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393939"/>
          </a:solidFill>
          <a:ln w="12700">
            <a:noFill/>
            <a:prstDash val="dash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389D496-6247-46EC-BAEF-D149AA016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투스라이프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A08976C6-74B5-4CBB-9284-20A4A023E1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512763"/>
            <a:ext cx="826665" cy="117500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A0B67B-DEC2-4F3C-904F-CA399DD65E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58E628C0-DF7D-4D8A-A951-204461C98B9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B6D90BBE-8A2B-4FF3-B486-8D8D660C24C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태동민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063E25BF-107D-4C35-B22F-5D9D82143A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C69DB8-AACF-48B7-8967-97565A1FA1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85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9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orient="horz" pos="323">
          <p15:clr>
            <a:srgbClr val="FBAE40"/>
          </p15:clr>
        </p15:guide>
        <p15:guide id="5" pos="715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(히스토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ko-KR" altLang="en-US" dirty="0"/>
              <a:t>개정 이력 </a:t>
            </a:r>
            <a:r>
              <a:rPr lang="en-US" altLang="ko-KR" dirty="0"/>
              <a:t>(</a:t>
            </a:r>
            <a:r>
              <a:rPr lang="ko-KR" altLang="en-US" dirty="0"/>
              <a:t>히스토리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표 개체 틀 7">
            <a:extLst>
              <a:ext uri="{FF2B5EF4-FFF2-40B4-BE49-F238E27FC236}">
                <a16:creationId xmlns:a16="http://schemas.microsoft.com/office/drawing/2014/main" id="{051541C9-CED0-45F2-B9C1-C5C8B6C4C26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9787" y="1124736"/>
            <a:ext cx="10757919" cy="5220502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38BE78-CB71-4A42-8831-76BDF5B29AB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131313"/>
          </a:solidFill>
          <a:ln w="12700">
            <a:noFill/>
            <a:prstDash val="dash"/>
            <a:miter lim="800000"/>
            <a:headEnd/>
            <a:tailEnd/>
          </a:ln>
        </p:spPr>
        <p:txBody>
          <a:bodyPr wrap="none" rtlCol="0" anchor="ctr"/>
          <a:lstStyle/>
          <a:p>
            <a:pPr algn="l"/>
            <a:endParaRPr lang="ko-KR" altLang="en-US" dirty="0">
              <a:solidFill>
                <a:srgbClr val="808080"/>
              </a:solidFill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0DBE646-A759-424F-8598-7BFB0BBC6F9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9231777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8B236C2C-B598-4F5E-A9FB-E0497452F1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6210238"/>
            <a:ext cx="826665" cy="1175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A831A2B-A812-48FC-943B-049FAA0390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005" y="692696"/>
            <a:ext cx="274344" cy="5797798"/>
          </a:xfrm>
          <a:prstGeom prst="rect">
            <a:avLst/>
          </a:prstGeom>
        </p:spPr>
      </p:pic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CD5E4266-B07C-4003-BF9E-5FC6BE8032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>
                <a:solidFill>
                  <a:schemeClr val="bg1">
                    <a:alpha val="20000"/>
                  </a:schemeClr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40900" y="1247547"/>
            <a:ext cx="1548174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r>
              <a:rPr lang="ko-KR" altLang="en-US" dirty="0" err="1"/>
              <a:t>투네이션의</a:t>
            </a:r>
            <a:r>
              <a:rPr lang="ko-KR" altLang="en-US" dirty="0"/>
              <a:t> 장점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762726" y="1658744"/>
            <a:ext cx="10815294" cy="258087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타서비스에 비해 디테일한 설정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247C81E-D261-41F7-BE9F-82E2ACF51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ko-KR" altLang="en-US" dirty="0"/>
              <a:t>콘텐츠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D4F76F5E-EA28-4A88-8839-2998209C05E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767407" y="2685858"/>
            <a:ext cx="10815294" cy="862693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디테일한 설정으로 인해</a:t>
            </a:r>
            <a:r>
              <a:rPr lang="en-US" altLang="ko-KR" dirty="0"/>
              <a:t>, </a:t>
            </a:r>
            <a:r>
              <a:rPr lang="ko-KR" altLang="en-US" dirty="0"/>
              <a:t>타서비스 대비 복잡한 메뉴와 </a:t>
            </a:r>
            <a:r>
              <a:rPr lang="en-US" altLang="ko-KR" dirty="0"/>
              <a:t>UI </a:t>
            </a:r>
            <a:r>
              <a:rPr lang="ko-KR" altLang="en-US" dirty="0"/>
              <a:t>구성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기본적으로 복잡한 메뉴 구성에</a:t>
            </a:r>
            <a:r>
              <a:rPr lang="en-US" altLang="ko-KR" dirty="0"/>
              <a:t>, </a:t>
            </a:r>
            <a:r>
              <a:rPr lang="ko-KR" altLang="en-US" dirty="0"/>
              <a:t>신규로 </a:t>
            </a:r>
            <a:r>
              <a:rPr lang="ko-KR" altLang="en-US" dirty="0" err="1"/>
              <a:t>런칭되는</a:t>
            </a:r>
            <a:r>
              <a:rPr lang="ko-KR" altLang="en-US" dirty="0"/>
              <a:t> 서비스들까지 끼워 넣으면서 더욱 복잡해지고 일관성 없는 메뉴 구성의 서비스로 진화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이로 인해 초보 </a:t>
            </a:r>
            <a:r>
              <a:rPr lang="ko-KR" altLang="en-US" dirty="0" err="1"/>
              <a:t>스트리머들에겐</a:t>
            </a:r>
            <a:r>
              <a:rPr lang="ko-KR" altLang="en-US" dirty="0"/>
              <a:t> 높은 장벽이 됨과 동시에</a:t>
            </a:r>
            <a:r>
              <a:rPr lang="en-US" altLang="ko-KR" dirty="0"/>
              <a:t>, </a:t>
            </a:r>
            <a:r>
              <a:rPr lang="ko-KR" altLang="en-US" dirty="0"/>
              <a:t>기존 유저들 조차 세부 기능들을 잘 활용하지 못하고 있음</a:t>
            </a:r>
            <a:r>
              <a:rPr lang="en-US" altLang="ko-KR" dirty="0"/>
              <a:t>.</a:t>
            </a:r>
          </a:p>
        </p:txBody>
      </p:sp>
      <p:sp>
        <p:nvSpPr>
          <p:cNvPr id="20" name="내용 개체 틀 3">
            <a:extLst>
              <a:ext uri="{FF2B5EF4-FFF2-40B4-BE49-F238E27FC236}">
                <a16:creationId xmlns:a16="http://schemas.microsoft.com/office/drawing/2014/main" id="{DE0D59F2-6A7B-4DCE-AD97-C2D19294EA7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62727" y="4015304"/>
            <a:ext cx="10815294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우리 서비스의 장점인 디테일한 설정이 가능하면서도</a:t>
            </a:r>
            <a:r>
              <a:rPr lang="en-US" altLang="ko-KR" dirty="0"/>
              <a:t>, </a:t>
            </a:r>
            <a:r>
              <a:rPr lang="ko-KR" altLang="en-US" dirty="0"/>
              <a:t>최대한 쉬운 메뉴와 </a:t>
            </a:r>
            <a:r>
              <a:rPr lang="en-US" altLang="ko-KR" dirty="0"/>
              <a:t>UI </a:t>
            </a:r>
            <a:r>
              <a:rPr lang="ko-KR" altLang="en-US" dirty="0"/>
              <a:t>구성으로 단점을 최소화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설정을 복잡함을 해소하기 위해 최소한의 기능 축소는 필요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최대한 현재보다는 쉬운 메뉴 구성과 네이밍을 목표로 함</a:t>
            </a:r>
            <a:r>
              <a:rPr lang="en-US" altLang="ko-KR" dirty="0"/>
              <a:t>.</a:t>
            </a:r>
          </a:p>
        </p:txBody>
      </p:sp>
      <p:sp>
        <p:nvSpPr>
          <p:cNvPr id="24" name="내용 개체 틀 3">
            <a:extLst>
              <a:ext uri="{FF2B5EF4-FFF2-40B4-BE49-F238E27FC236}">
                <a16:creationId xmlns:a16="http://schemas.microsoft.com/office/drawing/2014/main" id="{BD5A8ED4-EC50-495F-BB45-5D0AC917F30A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62727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이해하기 어려운 네이밍 개선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중복</a:t>
            </a:r>
            <a:r>
              <a:rPr lang="en-US" altLang="ko-KR" dirty="0"/>
              <a:t>,</a:t>
            </a:r>
            <a:r>
              <a:rPr lang="ko-KR" altLang="en-US" dirty="0"/>
              <a:t>유사 기능들의 통폐합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사용하지 않는 메뉴 삭제</a:t>
            </a:r>
            <a:r>
              <a:rPr lang="en-US" altLang="ko-KR" dirty="0"/>
              <a:t>.</a:t>
            </a:r>
          </a:p>
          <a:p>
            <a:pPr lvl="0"/>
            <a:endParaRPr lang="en-US" altLang="ko-KR" dirty="0"/>
          </a:p>
        </p:txBody>
      </p:sp>
      <p:sp>
        <p:nvSpPr>
          <p:cNvPr id="27" name="내용 개체 틀 3">
            <a:extLst>
              <a:ext uri="{FF2B5EF4-FFF2-40B4-BE49-F238E27FC236}">
                <a16:creationId xmlns:a16="http://schemas.microsoft.com/office/drawing/2014/main" id="{9B464D4F-1118-4D40-BE8C-D1914BC0E02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096000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메뉴 구성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메뉴 </a:t>
            </a:r>
            <a:r>
              <a:rPr lang="en-US" altLang="ko-KR" dirty="0"/>
              <a:t>depth</a:t>
            </a:r>
            <a:r>
              <a:rPr lang="ko-KR" altLang="en-US" dirty="0"/>
              <a:t>는 깊지 않도록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추가되는 메뉴를 고려한 </a:t>
            </a:r>
            <a:r>
              <a:rPr lang="en-US" altLang="ko-KR" dirty="0"/>
              <a:t>UI.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최소한의 페이지 이동으로 설정 가능하도록</a:t>
            </a:r>
            <a:r>
              <a:rPr lang="en-US" altLang="ko-KR" dirty="0"/>
              <a:t>.</a:t>
            </a:r>
          </a:p>
        </p:txBody>
      </p:sp>
      <p:sp>
        <p:nvSpPr>
          <p:cNvPr id="30" name="텍스트 개체 틀 2">
            <a:extLst>
              <a:ext uri="{FF2B5EF4-FFF2-40B4-BE49-F238E27FC236}">
                <a16:creationId xmlns:a16="http://schemas.microsoft.com/office/drawing/2014/main" id="{84639B50-5608-4252-B7B4-885F357BD02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40900" y="2258555"/>
            <a:ext cx="1548174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r>
              <a:rPr lang="ko-KR" altLang="en-US" dirty="0" err="1"/>
              <a:t>투네이션의</a:t>
            </a:r>
            <a:r>
              <a:rPr lang="ko-KR" altLang="en-US" dirty="0"/>
              <a:t> 단점</a:t>
            </a: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B5FEE909-4D3B-433F-A66F-8B3D58DCBDB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40900" y="3613782"/>
            <a:ext cx="1906728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r>
              <a:rPr lang="ko-KR" altLang="en-US" dirty="0"/>
              <a:t>개편의 목표와 방향</a:t>
            </a:r>
          </a:p>
        </p:txBody>
      </p:sp>
      <p:sp>
        <p:nvSpPr>
          <p:cNvPr id="32" name="텍스트 개체 틀 2">
            <a:extLst>
              <a:ext uri="{FF2B5EF4-FFF2-40B4-BE49-F238E27FC236}">
                <a16:creationId xmlns:a16="http://schemas.microsoft.com/office/drawing/2014/main" id="{C2A3887F-D681-4D38-9B7D-412998C9BFA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7494" y="4913593"/>
            <a:ext cx="2126157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r>
              <a:rPr lang="ko-KR" altLang="en-US" dirty="0"/>
              <a:t>이를 위한 서비스 구성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767407" y="2147161"/>
            <a:ext cx="1548174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rgbClr val="121212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r>
              <a:rPr lang="ko-KR" altLang="en-US" dirty="0" err="1"/>
              <a:t>투네이션의</a:t>
            </a:r>
            <a:r>
              <a:rPr lang="ko-KR" altLang="en-US" dirty="0"/>
              <a:t> 장점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847974" y="2790373"/>
            <a:ext cx="2403710" cy="3020062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타서비스에 비해 디테일한 설정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247C81E-D261-41F7-BE9F-82E2ACF51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ko-KR" altLang="en-US" dirty="0"/>
              <a:t>콘텐츠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D4F76F5E-EA28-4A88-8839-2998209C05EB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535142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디테일한 설정으로 인해</a:t>
            </a:r>
            <a:r>
              <a:rPr lang="en-US" altLang="ko-KR" dirty="0"/>
              <a:t>, </a:t>
            </a:r>
            <a:r>
              <a:rPr lang="ko-KR" altLang="en-US" dirty="0"/>
              <a:t>타서비스 대비 복잡한 메뉴와 </a:t>
            </a:r>
            <a:r>
              <a:rPr lang="en-US" altLang="ko-KR" dirty="0"/>
              <a:t>UI </a:t>
            </a:r>
            <a:r>
              <a:rPr lang="ko-KR" altLang="en-US" dirty="0"/>
              <a:t>구성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기본적으로 복잡한 메뉴 구성에</a:t>
            </a:r>
            <a:r>
              <a:rPr lang="en-US" altLang="ko-KR" dirty="0"/>
              <a:t>, </a:t>
            </a:r>
            <a:r>
              <a:rPr lang="ko-KR" altLang="en-US" dirty="0"/>
              <a:t>신규로 </a:t>
            </a:r>
            <a:r>
              <a:rPr lang="ko-KR" altLang="en-US" dirty="0" err="1"/>
              <a:t>런칭되는</a:t>
            </a:r>
            <a:r>
              <a:rPr lang="ko-KR" altLang="en-US" dirty="0"/>
              <a:t> 서비스들까지 끼워 넣으면서 더욱 복잡해지고 일관성 없는 메뉴 구성의 서비스로 진화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이로 인해 초보 </a:t>
            </a:r>
            <a:r>
              <a:rPr lang="ko-KR" altLang="en-US" dirty="0" err="1"/>
              <a:t>스트리머들에겐</a:t>
            </a:r>
            <a:r>
              <a:rPr lang="ko-KR" altLang="en-US" dirty="0"/>
              <a:t> 높은 장벽이 됨과 동시에</a:t>
            </a:r>
            <a:r>
              <a:rPr lang="en-US" altLang="ko-KR" dirty="0"/>
              <a:t>, </a:t>
            </a:r>
            <a:r>
              <a:rPr lang="ko-KR" altLang="en-US" dirty="0"/>
              <a:t>기존 유저들 조차 세부 기능들을 잘 활용하지 못하고 있음</a:t>
            </a:r>
            <a:r>
              <a:rPr lang="en-US" altLang="ko-KR" dirty="0"/>
              <a:t>.</a:t>
            </a:r>
          </a:p>
        </p:txBody>
      </p:sp>
      <p:sp>
        <p:nvSpPr>
          <p:cNvPr id="20" name="내용 개체 틀 3">
            <a:extLst>
              <a:ext uri="{FF2B5EF4-FFF2-40B4-BE49-F238E27FC236}">
                <a16:creationId xmlns:a16="http://schemas.microsoft.com/office/drawing/2014/main" id="{DE0D59F2-6A7B-4DCE-AD97-C2D19294EA7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56794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우리 서비스의 장점인 디테일한 설정이 가능하면서도</a:t>
            </a:r>
            <a:r>
              <a:rPr lang="en-US" altLang="ko-KR" dirty="0"/>
              <a:t>, </a:t>
            </a:r>
            <a:r>
              <a:rPr lang="ko-KR" altLang="en-US" dirty="0"/>
              <a:t>최대한 쉬운 메뉴와 </a:t>
            </a:r>
            <a:r>
              <a:rPr lang="en-US" altLang="ko-KR" dirty="0"/>
              <a:t>UI </a:t>
            </a:r>
            <a:r>
              <a:rPr lang="ko-KR" altLang="en-US" dirty="0"/>
              <a:t>구성으로 단점을 최소화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설정을 복잡함을 해소하기 위해 최소한의 기능 축소는 필요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최대한 현재보다는 쉬운 메뉴 구성과 네이밍을 목표로 함</a:t>
            </a:r>
            <a:r>
              <a:rPr lang="en-US" altLang="ko-KR" dirty="0"/>
              <a:t>.</a:t>
            </a:r>
          </a:p>
        </p:txBody>
      </p:sp>
      <p:sp>
        <p:nvSpPr>
          <p:cNvPr id="24" name="내용 개체 틀 3">
            <a:extLst>
              <a:ext uri="{FF2B5EF4-FFF2-40B4-BE49-F238E27FC236}">
                <a16:creationId xmlns:a16="http://schemas.microsoft.com/office/drawing/2014/main" id="{BD5A8ED4-EC50-495F-BB45-5D0AC917F30A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940316" y="2790372"/>
            <a:ext cx="2403710" cy="3020065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 dirty="0"/>
              <a:t>이해하기 어려운 네이밍 개선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중복</a:t>
            </a:r>
            <a:r>
              <a:rPr lang="en-US" altLang="ko-KR" dirty="0"/>
              <a:t>,</a:t>
            </a:r>
            <a:r>
              <a:rPr lang="ko-KR" altLang="en-US" dirty="0"/>
              <a:t>유사 기능들의 통폐합</a:t>
            </a:r>
            <a:r>
              <a:rPr lang="en-US" altLang="ko-KR" dirty="0"/>
              <a:t>.</a:t>
            </a:r>
          </a:p>
          <a:p>
            <a:pPr lvl="0"/>
            <a:r>
              <a:rPr lang="ko-KR" altLang="en-US" dirty="0"/>
              <a:t>사용하지 않는 메뉴 삭제</a:t>
            </a:r>
            <a:r>
              <a:rPr lang="en-US" altLang="ko-KR" dirty="0"/>
              <a:t>.</a:t>
            </a:r>
          </a:p>
          <a:p>
            <a:pPr marL="171450" marR="0" lvl="0" indent="-171450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/>
              <a:t>메뉴 구성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메뉴 </a:t>
            </a:r>
            <a:r>
              <a:rPr lang="en-US" altLang="ko-KR" dirty="0"/>
              <a:t>depth</a:t>
            </a:r>
            <a:r>
              <a:rPr lang="ko-KR" altLang="en-US" dirty="0"/>
              <a:t>는 깊지 않도록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추가되는 메뉴를 고려한 </a:t>
            </a:r>
            <a:r>
              <a:rPr lang="en-US" altLang="ko-KR" dirty="0"/>
              <a:t>UI.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최소한의 페이지 이동으로 설정 가능하도록</a:t>
            </a:r>
            <a:r>
              <a:rPr lang="en-US" altLang="ko-KR" dirty="0"/>
              <a:t>.</a:t>
            </a:r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0" name="텍스트 개체 틀 2">
            <a:extLst>
              <a:ext uri="{FF2B5EF4-FFF2-40B4-BE49-F238E27FC236}">
                <a16:creationId xmlns:a16="http://schemas.microsoft.com/office/drawing/2014/main" id="{84639B50-5608-4252-B7B4-885F357BD02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467708" y="2147161"/>
            <a:ext cx="1548174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rgbClr val="121212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r>
              <a:rPr lang="ko-KR" altLang="en-US" dirty="0" err="1"/>
              <a:t>투네이션의</a:t>
            </a:r>
            <a:r>
              <a:rPr lang="ko-KR" altLang="en-US" dirty="0"/>
              <a:t> 단점</a:t>
            </a: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B5FEE909-4D3B-433F-A66F-8B3D58DCBDB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75054" y="2147161"/>
            <a:ext cx="1906728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rgbClr val="121212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r>
              <a:rPr lang="ko-KR" altLang="en-US" dirty="0"/>
              <a:t>개편의 목표와 방향</a:t>
            </a:r>
          </a:p>
        </p:txBody>
      </p:sp>
      <p:sp>
        <p:nvSpPr>
          <p:cNvPr id="32" name="텍스트 개체 틀 2">
            <a:extLst>
              <a:ext uri="{FF2B5EF4-FFF2-40B4-BE49-F238E27FC236}">
                <a16:creationId xmlns:a16="http://schemas.microsoft.com/office/drawing/2014/main" id="{C2A3887F-D681-4D38-9B7D-412998C9BFA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832304" y="2147161"/>
            <a:ext cx="2126157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rgbClr val="121212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r>
              <a:rPr lang="ko-KR" altLang="en-US" dirty="0"/>
              <a:t>이를 위한 서비스 구성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EB93059-8010-4D02-97ED-E899E300706E}"/>
              </a:ext>
            </a:extLst>
          </p:cNvPr>
          <p:cNvCxnSpPr/>
          <p:nvPr userDrawn="1"/>
        </p:nvCxnSpPr>
        <p:spPr bwMode="auto">
          <a:xfrm>
            <a:off x="847974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30AD0DA-BE91-4D71-BEEE-66985D4BCB80}"/>
              </a:ext>
            </a:extLst>
          </p:cNvPr>
          <p:cNvCxnSpPr/>
          <p:nvPr userDrawn="1"/>
        </p:nvCxnSpPr>
        <p:spPr bwMode="auto">
          <a:xfrm>
            <a:off x="3545421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BD091F0-6DF8-4AEF-8F06-686A53F0FD0B}"/>
              </a:ext>
            </a:extLst>
          </p:cNvPr>
          <p:cNvCxnSpPr/>
          <p:nvPr userDrawn="1"/>
        </p:nvCxnSpPr>
        <p:spPr bwMode="auto">
          <a:xfrm>
            <a:off x="6242868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36AC100-CDD2-4405-9CC1-B13EFC2C615E}"/>
              </a:ext>
            </a:extLst>
          </p:cNvPr>
          <p:cNvCxnSpPr/>
          <p:nvPr userDrawn="1"/>
        </p:nvCxnSpPr>
        <p:spPr bwMode="auto">
          <a:xfrm>
            <a:off x="8940316" y="2631266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7291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>
            <a:extLst>
              <a:ext uri="{FF2B5EF4-FFF2-40B4-BE49-F238E27FC236}">
                <a16:creationId xmlns:a16="http://schemas.microsoft.com/office/drawing/2014/main" id="{A154C9BB-6EB9-4620-970A-F30677E7EC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101901"/>
            <a:ext cx="1992931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5E24DC14-99B9-4047-8F6E-F62F680F4E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317800"/>
            <a:ext cx="1989984" cy="6315555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graphicFrame>
        <p:nvGraphicFramePr>
          <p:cNvPr id="17" name="Group 549">
            <a:extLst>
              <a:ext uri="{FF2B5EF4-FFF2-40B4-BE49-F238E27FC236}">
                <a16:creationId xmlns:a16="http://schemas.microsoft.com/office/drawing/2014/main" id="{0C0C7909-1A21-826F-84A8-B48C4B23E57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209501789"/>
              </p:ext>
            </p:extLst>
          </p:nvPr>
        </p:nvGraphicFramePr>
        <p:xfrm>
          <a:off x="144103" y="119789"/>
          <a:ext cx="9912340" cy="627829"/>
        </p:xfrm>
        <a:graphic>
          <a:graphicData uri="http://schemas.openxmlformats.org/drawingml/2006/table">
            <a:tbl>
              <a:tblPr/>
              <a:tblGrid>
                <a:gridCol w="1055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val="2672616867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1608493944"/>
                    </a:ext>
                  </a:extLst>
                </a:gridCol>
                <a:gridCol w="2071010">
                  <a:extLst>
                    <a:ext uri="{9D8B030D-6E8A-4147-A177-3AD203B41FA5}">
                      <a16:colId xmlns:a16="http://schemas.microsoft.com/office/drawing/2014/main" val="3060996127"/>
                    </a:ext>
                  </a:extLst>
                </a:gridCol>
                <a:gridCol w="225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Screen ID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요구사항 </a:t>
                      </a: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ID</a:t>
                      </a:r>
                      <a:endParaRPr kumimoji="1" lang="ko-KR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System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경로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작성자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페이지 설명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수정사항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작성일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/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버전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554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기획 레이아웃_이슈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0">
            <a:extLst>
              <a:ext uri="{FF2B5EF4-FFF2-40B4-BE49-F238E27FC236}">
                <a16:creationId xmlns:a16="http://schemas.microsoft.com/office/drawing/2014/main" id="{5E24DC14-99B9-4047-8F6E-F62F680F4E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317800"/>
            <a:ext cx="1989984" cy="6315555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EB7DE-C0FF-499D-901C-04EBAF9F6F2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172446" y="397184"/>
            <a:ext cx="1960709" cy="62361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ko-KR" altLang="en-US" dirty="0"/>
              <a:t>여기에 내용을 입력해주세요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54C9BB-6EB9-4620-970A-F30677E7EC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101901"/>
            <a:ext cx="1992931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Description</a:t>
            </a:r>
          </a:p>
        </p:txBody>
      </p:sp>
      <p:graphicFrame>
        <p:nvGraphicFramePr>
          <p:cNvPr id="16" name="Group 549">
            <a:extLst>
              <a:ext uri="{FF2B5EF4-FFF2-40B4-BE49-F238E27FC236}">
                <a16:creationId xmlns:a16="http://schemas.microsoft.com/office/drawing/2014/main" id="{B8697D81-5675-A7EE-2484-4DC72DC7B80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184567252"/>
              </p:ext>
            </p:extLst>
          </p:nvPr>
        </p:nvGraphicFramePr>
        <p:xfrm>
          <a:off x="144103" y="119789"/>
          <a:ext cx="9912340" cy="627829"/>
        </p:xfrm>
        <a:graphic>
          <a:graphicData uri="http://schemas.openxmlformats.org/drawingml/2006/table">
            <a:tbl>
              <a:tblPr/>
              <a:tblGrid>
                <a:gridCol w="1055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val="2672616867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1608493944"/>
                    </a:ext>
                  </a:extLst>
                </a:gridCol>
                <a:gridCol w="2071010">
                  <a:extLst>
                    <a:ext uri="{9D8B030D-6E8A-4147-A177-3AD203B41FA5}">
                      <a16:colId xmlns:a16="http://schemas.microsoft.com/office/drawing/2014/main" val="3060996127"/>
                    </a:ext>
                  </a:extLst>
                </a:gridCol>
                <a:gridCol w="225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Screen ID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요구사항 </a:t>
                      </a: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ID</a:t>
                      </a:r>
                      <a:endParaRPr kumimoji="1" lang="ko-KR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System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경로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작성자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페이지 설명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수정사항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작성일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/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버전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806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 레이아웃 (We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549">
            <a:extLst>
              <a:ext uri="{FF2B5EF4-FFF2-40B4-BE49-F238E27FC236}">
                <a16:creationId xmlns:a16="http://schemas.microsoft.com/office/drawing/2014/main" id="{9A0DF864-58D4-46FB-83B4-DA5B2E53052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637369668"/>
              </p:ext>
            </p:extLst>
          </p:nvPr>
        </p:nvGraphicFramePr>
        <p:xfrm>
          <a:off x="144103" y="119789"/>
          <a:ext cx="9912338" cy="627829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Screen ID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System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경로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작성자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페이지 설명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수정사항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작성일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/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버전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A154C9BB-6EB9-4620-970A-F30677E7EC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101901"/>
            <a:ext cx="1992931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EB7DE-C0FF-499D-901C-04EBAF9F6F2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172446" y="397184"/>
            <a:ext cx="1960709" cy="62719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ko-KR" altLang="en-US" dirty="0"/>
              <a:t>여기에 내용을 입력해주세요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7A6E257-8399-48D9-AABF-2A6B1C0C463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en-US" altLang="ko-KR" dirty="0"/>
              <a:t>M_0.0.0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56FFA4F-9F5F-4198-A5D3-3BA5260E66D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en-US" altLang="ko-KR" dirty="0"/>
              <a:t>Home &gt; </a:t>
            </a:r>
            <a:r>
              <a:rPr lang="ko-KR" altLang="en-US" dirty="0"/>
              <a:t>운영 관리 </a:t>
            </a:r>
            <a:r>
              <a:rPr lang="en-US" altLang="ko-KR" dirty="0"/>
              <a:t>&gt; </a:t>
            </a:r>
            <a:r>
              <a:rPr lang="ko-KR" altLang="en-US" dirty="0"/>
              <a:t>공지사항 관리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B31F553-A6CD-428A-B262-E68006462C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ko-KR" altLang="en-US" dirty="0"/>
              <a:t>리스트 플랫폼 </a:t>
            </a:r>
            <a:r>
              <a:rPr lang="en-US" altLang="ko-KR" dirty="0"/>
              <a:t>Tab </a:t>
            </a:r>
            <a:r>
              <a:rPr lang="ko-KR" altLang="en-US" dirty="0"/>
              <a:t>삭제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02231313-FF61-4FD0-AA0D-C63D9697142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en-US" altLang="ko-KR" dirty="0"/>
              <a:t>APP [</a:t>
            </a:r>
            <a:r>
              <a:rPr lang="en-US" altLang="ko-KR" dirty="0" err="1"/>
              <a:t>iOS,AOS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781B0AC7-12A0-454D-9960-F262020F56C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ko-KR" altLang="en-US" dirty="0" err="1"/>
              <a:t>태동민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98F40A64-CE5A-4299-8E84-54FD2CC5CD3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en-US" altLang="ko-KR" dirty="0"/>
              <a:t>2021-08-31 / ver0.4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77D0AF-3D87-4F56-BD4E-2A52DB226461}"/>
              </a:ext>
            </a:extLst>
          </p:cNvPr>
          <p:cNvSpPr/>
          <p:nvPr userDrawn="1"/>
        </p:nvSpPr>
        <p:spPr bwMode="auto">
          <a:xfrm>
            <a:off x="144103" y="836712"/>
            <a:ext cx="9912338" cy="5832376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olid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483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 레이아웃 (Ap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549">
            <a:extLst>
              <a:ext uri="{FF2B5EF4-FFF2-40B4-BE49-F238E27FC236}">
                <a16:creationId xmlns:a16="http://schemas.microsoft.com/office/drawing/2014/main" id="{9A0DF864-58D4-46FB-83B4-DA5B2E53052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066797194"/>
              </p:ext>
            </p:extLst>
          </p:nvPr>
        </p:nvGraphicFramePr>
        <p:xfrm>
          <a:off x="144103" y="119789"/>
          <a:ext cx="9912338" cy="627829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Screen ID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System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경로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작성자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페이지 설명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수정사항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작성일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/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버전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A154C9BB-6EB9-4620-970A-F30677E7EC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101901"/>
            <a:ext cx="1992931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5E24DC14-99B9-4047-8F6E-F62F680F4E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317801"/>
            <a:ext cx="1989984" cy="5088386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7A6E257-8399-48D9-AABF-2A6B1C0C463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en-US" altLang="ko-KR" dirty="0"/>
              <a:t>M_0.0.0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56FFA4F-9F5F-4198-A5D3-3BA5260E66D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en-US" altLang="ko-KR" dirty="0"/>
              <a:t>Home &gt; </a:t>
            </a:r>
            <a:r>
              <a:rPr lang="ko-KR" altLang="en-US" dirty="0"/>
              <a:t>운영 관리 </a:t>
            </a:r>
            <a:r>
              <a:rPr lang="en-US" altLang="ko-KR" dirty="0"/>
              <a:t>&gt; </a:t>
            </a:r>
            <a:r>
              <a:rPr lang="ko-KR" altLang="en-US" dirty="0"/>
              <a:t>공지사항 관리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B31F553-A6CD-428A-B262-E68006462C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ko-KR" altLang="en-US" dirty="0"/>
              <a:t>리스트 플랫폼 </a:t>
            </a:r>
            <a:r>
              <a:rPr lang="en-US" altLang="ko-KR" dirty="0"/>
              <a:t>Tab </a:t>
            </a:r>
            <a:r>
              <a:rPr lang="ko-KR" altLang="en-US" dirty="0"/>
              <a:t>삭제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02231313-FF61-4FD0-AA0D-C63D9697142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en-US" altLang="ko-KR" dirty="0"/>
              <a:t>APP [</a:t>
            </a:r>
            <a:r>
              <a:rPr lang="en-US" altLang="ko-KR" dirty="0" err="1"/>
              <a:t>iOS,AOS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781B0AC7-12A0-454D-9960-F262020F56C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ko-KR" altLang="en-US" dirty="0" err="1"/>
              <a:t>태동민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98F40A64-CE5A-4299-8E84-54FD2CC5CD3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pPr lvl="0"/>
            <a:r>
              <a:rPr lang="en-US" altLang="ko-KR" dirty="0"/>
              <a:t>2021-08-31 / ver0.4</a:t>
            </a:r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3FFFF9E-6606-4147-9A79-2CC48BD91ADF}"/>
              </a:ext>
            </a:extLst>
          </p:cNvPr>
          <p:cNvSpPr/>
          <p:nvPr userDrawn="1"/>
        </p:nvSpPr>
        <p:spPr bwMode="auto">
          <a:xfrm>
            <a:off x="1055440" y="961161"/>
            <a:ext cx="3123804" cy="5559549"/>
          </a:xfrm>
          <a:prstGeom prst="roundRect">
            <a:avLst>
              <a:gd name="adj" fmla="val 8935"/>
            </a:avLst>
          </a:prstGeom>
          <a:noFill/>
          <a:ln w="38100">
            <a:solidFill>
              <a:srgbClr val="393939"/>
            </a:solidFill>
            <a:prstDash val="solid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475AF46-33BD-4306-B8DD-68BA6797A913}"/>
              </a:ext>
            </a:extLst>
          </p:cNvPr>
          <p:cNvSpPr/>
          <p:nvPr userDrawn="1"/>
        </p:nvSpPr>
        <p:spPr bwMode="auto">
          <a:xfrm>
            <a:off x="5477947" y="961161"/>
            <a:ext cx="3123804" cy="5559549"/>
          </a:xfrm>
          <a:prstGeom prst="roundRect">
            <a:avLst>
              <a:gd name="adj" fmla="val 8935"/>
            </a:avLst>
          </a:prstGeom>
          <a:noFill/>
          <a:ln w="38100">
            <a:solidFill>
              <a:srgbClr val="393939"/>
            </a:solidFill>
            <a:prstDash val="solid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955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표지(뒷면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9"/>
          <p:cNvSpPr txBox="1">
            <a:spLocks noChangeArrowheads="1"/>
          </p:cNvSpPr>
          <p:nvPr/>
        </p:nvSpPr>
        <p:spPr bwMode="auto">
          <a:xfrm>
            <a:off x="3133726" y="280990"/>
            <a:ext cx="184731" cy="39241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empus Sans ITC" pitchFamily="82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endParaRPr lang="ko-KR" altLang="ko-KR" sz="1950" b="1">
              <a:solidFill>
                <a:srgbClr val="000000"/>
              </a:solidFill>
              <a:latin typeface="돋움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3ACA7B-5CAB-4113-A641-1DAB9D0EAF3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393939"/>
          </a:solidFill>
          <a:ln w="12700">
            <a:noFill/>
            <a:prstDash val="dash"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 dirty="0">
              <a:solidFill>
                <a:srgbClr val="80808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7A913-B5F8-4C6A-B34D-C6456B1B4429}"/>
              </a:ext>
            </a:extLst>
          </p:cNvPr>
          <p:cNvSpPr txBox="1"/>
          <p:nvPr userDrawn="1"/>
        </p:nvSpPr>
        <p:spPr>
          <a:xfrm>
            <a:off x="3357079" y="2492896"/>
            <a:ext cx="547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spc="300" dirty="0">
                <a:solidFill>
                  <a:srgbClr val="EAEAEA"/>
                </a:solidFill>
                <a:latin typeface="Montserrat ExtraBold" panose="00000900000000000000" pitchFamily="2" charset="0"/>
              </a:rPr>
              <a:t>THANK YOU</a:t>
            </a:r>
            <a:endParaRPr lang="ko-KR" altLang="en-US" sz="4800" spc="300" dirty="0">
              <a:solidFill>
                <a:srgbClr val="EAEAEA"/>
              </a:solidFill>
              <a:latin typeface="Montserrat ExtraBold" panose="00000900000000000000" pitchFamily="2" charset="0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583D7C99-FE50-4831-8CEF-11381E819D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2668" y="3732433"/>
            <a:ext cx="826665" cy="1175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5D1FE8F-A1BA-48F8-8B0A-03D8B0EECD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902" y="3285731"/>
            <a:ext cx="4316342" cy="2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35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299" y="274411"/>
            <a:ext cx="10973404" cy="1143000"/>
          </a:xfrm>
          <a:prstGeom prst="rect">
            <a:avLst/>
          </a:prstGeom>
        </p:spPr>
        <p:txBody>
          <a:bodyPr lIns="68415" tIns="34208" rIns="68415" bIns="34208"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299" y="273278"/>
            <a:ext cx="4011083" cy="1162276"/>
          </a:xfrm>
          <a:prstGeom prst="rect">
            <a:avLst/>
          </a:prstGeom>
        </p:spPr>
        <p:txBody>
          <a:bodyPr lIns="68415" tIns="34208" rIns="68415" bIns="34208" anchor="b"/>
          <a:lstStyle>
            <a:lvl1pPr algn="l">
              <a:defRPr sz="15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7037" y="273279"/>
            <a:ext cx="6815666" cy="5853339"/>
          </a:xfrm>
          <a:prstGeom prst="rect">
            <a:avLst/>
          </a:prstGeom>
        </p:spPr>
        <p:txBody>
          <a:bodyPr lIns="68415" tIns="34208" rIns="68415" bIns="34208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299" y="1435555"/>
            <a:ext cx="4011083" cy="4691063"/>
          </a:xfrm>
          <a:prstGeom prst="rect">
            <a:avLst/>
          </a:prstGeom>
        </p:spPr>
        <p:txBody>
          <a:bodyPr lIns="68415" tIns="34208" rIns="68415" bIns="34208"/>
          <a:lstStyle>
            <a:lvl1pPr marL="0" indent="0">
              <a:buNone/>
              <a:defRPr sz="1000"/>
            </a:lvl1pPr>
            <a:lvl2pPr marL="342077" indent="0">
              <a:buNone/>
              <a:defRPr sz="900"/>
            </a:lvl2pPr>
            <a:lvl3pPr marL="684154" indent="0">
              <a:buNone/>
              <a:defRPr sz="700"/>
            </a:lvl3pPr>
            <a:lvl4pPr marL="1026231" indent="0">
              <a:buNone/>
              <a:defRPr sz="700"/>
            </a:lvl4pPr>
            <a:lvl5pPr marL="1368308" indent="0">
              <a:buNone/>
              <a:defRPr sz="700"/>
            </a:lvl5pPr>
            <a:lvl6pPr marL="1710385" indent="0">
              <a:buNone/>
              <a:defRPr sz="700"/>
            </a:lvl6pPr>
            <a:lvl7pPr marL="2052462" indent="0">
              <a:buNone/>
              <a:defRPr sz="700"/>
            </a:lvl7pPr>
            <a:lvl8pPr marL="2394539" indent="0">
              <a:buNone/>
              <a:defRPr sz="700"/>
            </a:lvl8pPr>
            <a:lvl9pPr marL="2736616" indent="0">
              <a:buNone/>
              <a:defRPr sz="7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90323" y="4801055"/>
            <a:ext cx="7314596" cy="565831"/>
          </a:xfrm>
          <a:prstGeom prst="rect">
            <a:avLst/>
          </a:prstGeom>
        </p:spPr>
        <p:txBody>
          <a:bodyPr lIns="68415" tIns="34208" rIns="68415" bIns="34208" anchor="b"/>
          <a:lstStyle>
            <a:lvl1pPr algn="l">
              <a:defRPr sz="15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90323" y="612323"/>
            <a:ext cx="7314596" cy="4115027"/>
          </a:xfrm>
          <a:prstGeom prst="rect">
            <a:avLst/>
          </a:prstGeom>
        </p:spPr>
        <p:txBody>
          <a:bodyPr lIns="68415" tIns="34208" rIns="68415" bIns="34208"/>
          <a:lstStyle>
            <a:lvl1pPr marL="0" indent="0">
              <a:buNone/>
              <a:defRPr sz="2400"/>
            </a:lvl1pPr>
            <a:lvl2pPr marL="342077" indent="0">
              <a:buNone/>
              <a:defRPr sz="2100"/>
            </a:lvl2pPr>
            <a:lvl3pPr marL="684154" indent="0">
              <a:buNone/>
              <a:defRPr sz="1800"/>
            </a:lvl3pPr>
            <a:lvl4pPr marL="1026231" indent="0">
              <a:buNone/>
              <a:defRPr sz="1500"/>
            </a:lvl4pPr>
            <a:lvl5pPr marL="1368308" indent="0">
              <a:buNone/>
              <a:defRPr sz="1500"/>
            </a:lvl5pPr>
            <a:lvl6pPr marL="1710385" indent="0">
              <a:buNone/>
              <a:defRPr sz="1500"/>
            </a:lvl6pPr>
            <a:lvl7pPr marL="2052462" indent="0">
              <a:buNone/>
              <a:defRPr sz="1500"/>
            </a:lvl7pPr>
            <a:lvl8pPr marL="2394539" indent="0">
              <a:buNone/>
              <a:defRPr sz="1500"/>
            </a:lvl8pPr>
            <a:lvl9pPr marL="2736616" indent="0">
              <a:buNone/>
              <a:defRPr sz="15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90323" y="5366886"/>
            <a:ext cx="7314596" cy="805089"/>
          </a:xfrm>
          <a:prstGeom prst="rect">
            <a:avLst/>
          </a:prstGeom>
        </p:spPr>
        <p:txBody>
          <a:bodyPr lIns="68415" tIns="34208" rIns="68415" bIns="34208"/>
          <a:lstStyle>
            <a:lvl1pPr marL="0" indent="0">
              <a:buNone/>
              <a:defRPr sz="1000"/>
            </a:lvl1pPr>
            <a:lvl2pPr marL="342077" indent="0">
              <a:buNone/>
              <a:defRPr sz="900"/>
            </a:lvl2pPr>
            <a:lvl3pPr marL="684154" indent="0">
              <a:buNone/>
              <a:defRPr sz="700"/>
            </a:lvl3pPr>
            <a:lvl4pPr marL="1026231" indent="0">
              <a:buNone/>
              <a:defRPr sz="700"/>
            </a:lvl4pPr>
            <a:lvl5pPr marL="1368308" indent="0">
              <a:buNone/>
              <a:defRPr sz="700"/>
            </a:lvl5pPr>
            <a:lvl6pPr marL="1710385" indent="0">
              <a:buNone/>
              <a:defRPr sz="700"/>
            </a:lvl6pPr>
            <a:lvl7pPr marL="2052462" indent="0">
              <a:buNone/>
              <a:defRPr sz="700"/>
            </a:lvl7pPr>
            <a:lvl8pPr marL="2394539" indent="0">
              <a:buNone/>
              <a:defRPr sz="700"/>
            </a:lvl8pPr>
            <a:lvl9pPr marL="2736616" indent="0">
              <a:buNone/>
              <a:defRPr sz="7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299" y="274411"/>
            <a:ext cx="10973404" cy="1143000"/>
          </a:xfrm>
          <a:prstGeom prst="rect">
            <a:avLst/>
          </a:prstGeom>
        </p:spPr>
        <p:txBody>
          <a:bodyPr lIns="68415" tIns="34208" rIns="68415" bIns="34208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299" y="1599974"/>
            <a:ext cx="10973404" cy="4526643"/>
          </a:xfrm>
          <a:prstGeom prst="rect">
            <a:avLst/>
          </a:prstGeom>
        </p:spPr>
        <p:txBody>
          <a:bodyPr vert="eaVert" lIns="68415" tIns="34208" rIns="68415" bIns="34208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40109" y="274411"/>
            <a:ext cx="2742596" cy="5852206"/>
          </a:xfrm>
          <a:prstGeom prst="rect">
            <a:avLst/>
          </a:prstGeom>
        </p:spPr>
        <p:txBody>
          <a:bodyPr vert="eaVert" lIns="68415" tIns="34208" rIns="68415" bIns="34208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299" y="274411"/>
            <a:ext cx="8085666" cy="5852206"/>
          </a:xfrm>
          <a:prstGeom prst="rect">
            <a:avLst/>
          </a:prstGeom>
        </p:spPr>
        <p:txBody>
          <a:bodyPr vert="eaVert" lIns="68415" tIns="34208" rIns="68415" bIns="34208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8402" y="165600"/>
            <a:ext cx="11625600" cy="378000"/>
          </a:xfrm>
          <a:prstGeom prst="rect">
            <a:avLst/>
          </a:prstGeom>
        </p:spPr>
        <p:txBody>
          <a:bodyPr anchor="ctr"/>
          <a:lstStyle>
            <a:lvl1pPr>
              <a:defRPr kumimoji="1" lang="ko-KR" altLang="en-US" sz="1801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pPr marL="342921" lvl="0" indent="-342921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676636" y="692701"/>
            <a:ext cx="10674504" cy="576263"/>
          </a:xfrm>
          <a:prstGeom prst="rect">
            <a:avLst/>
          </a:prstGeom>
        </p:spPr>
        <p:txBody>
          <a:bodyPr/>
          <a:lstStyle>
            <a:lvl1pPr marL="342921" indent="-342921">
              <a:lnSpc>
                <a:spcPts val="1633"/>
              </a:lnSpc>
              <a:buFont typeface="Wingdings" panose="05000000000000000000" pitchFamily="2" charset="2"/>
              <a:buChar char="l"/>
              <a:defRPr kumimoji="1" lang="ko-KR" altLang="en-US" sz="1089" b="1" kern="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defRPr>
            </a:lvl1pPr>
            <a:lvl2pPr>
              <a:lnSpc>
                <a:spcPts val="1633"/>
              </a:lnSpc>
              <a:defRPr sz="907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59987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on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3">
            <a:extLst>
              <a:ext uri="{FF2B5EF4-FFF2-40B4-BE49-F238E27FC236}">
                <a16:creationId xmlns:a16="http://schemas.microsoft.com/office/drawing/2014/main" id="{7B5B99C1-755B-418A-AF7A-E112353631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67596048"/>
              </p:ext>
            </p:extLst>
          </p:nvPr>
        </p:nvGraphicFramePr>
        <p:xfrm>
          <a:off x="839414" y="1124744"/>
          <a:ext cx="10743288" cy="522050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864098">
                  <a:extLst>
                    <a:ext uri="{9D8B030D-6E8A-4147-A177-3AD203B41FA5}">
                      <a16:colId xmlns:a16="http://schemas.microsoft.com/office/drawing/2014/main" val="259823215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  <a:gridCol w="1022206">
                  <a:extLst>
                    <a:ext uri="{9D8B030D-6E8A-4147-A177-3AD203B41FA5}">
                      <a16:colId xmlns:a16="http://schemas.microsoft.com/office/drawing/2014/main" val="1823104482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02717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1957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876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214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60584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6949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653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17289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215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21DA78-8A4A-4A12-B9F9-4EF034E1B41E}"/>
              </a:ext>
            </a:extLst>
          </p:cNvPr>
          <p:cNvSpPr txBox="1"/>
          <p:nvPr userDrawn="1"/>
        </p:nvSpPr>
        <p:spPr>
          <a:xfrm>
            <a:off x="745145" y="342181"/>
            <a:ext cx="6228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kern="1200" noProof="0" dirty="0">
                <a:solidFill>
                  <a:schemeClr val="tx1"/>
                </a:solidFill>
                <a:latin typeface="+mj-ea"/>
                <a:ea typeface="+mj-ea"/>
                <a:cs typeface="+mj-cs"/>
              </a:rPr>
              <a:t>Revision History</a:t>
            </a:r>
            <a:endParaRPr lang="ko-KR" altLang="en-US" sz="3200" b="1" kern="1200" dirty="0">
              <a:solidFill>
                <a:schemeClr val="tx1"/>
              </a:solidFill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9202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662C9F9-E77E-4BF7-A843-61D97FD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04" y="182543"/>
            <a:ext cx="9707848" cy="416675"/>
          </a:xfrm>
          <a:prstGeom prst="rect">
            <a:avLst/>
          </a:prstGeom>
        </p:spPr>
        <p:txBody>
          <a:bodyPr anchor="ctr"/>
          <a:lstStyle>
            <a:lvl1pPr>
              <a:defRPr kumimoji="1" lang="ko-KR" altLang="en-US" sz="1985" b="1" dirty="0" smtClea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377999" lvl="0" indent="-377999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D4AE3E2B-4E8C-4162-A5AA-5801B2E6FC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436" y="763574"/>
            <a:ext cx="9361040" cy="635223"/>
          </a:xfrm>
          <a:prstGeom prst="rect">
            <a:avLst/>
          </a:prstGeom>
        </p:spPr>
        <p:txBody>
          <a:bodyPr/>
          <a:lstStyle>
            <a:lvl1pPr marL="377999" indent="-377999">
              <a:lnSpc>
                <a:spcPts val="1800"/>
              </a:lnSpc>
              <a:buFont typeface="Wingdings" panose="05000000000000000000" pitchFamily="2" charset="2"/>
              <a:buChar char="l"/>
              <a:defRPr kumimoji="1" lang="ko-KR" altLang="en-US" sz="1200" b="1" kern="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>
              <a:lnSpc>
                <a:spcPts val="1800"/>
              </a:lnSpc>
              <a:defRPr sz="1000" b="1">
                <a:latin typeface="+mn-ea"/>
                <a:ea typeface="+mn-ea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B61309-E2C1-4A72-B45F-5683582E6A1A}"/>
              </a:ext>
            </a:extLst>
          </p:cNvPr>
          <p:cNvCxnSpPr>
            <a:cxnSpLocks/>
          </p:cNvCxnSpPr>
          <p:nvPr userDrawn="1"/>
        </p:nvCxnSpPr>
        <p:spPr>
          <a:xfrm>
            <a:off x="731404" y="608979"/>
            <a:ext cx="1069318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7434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2FFAE89C-26C2-4A37-9703-B2554DC80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900" y="1247547"/>
            <a:ext cx="2417382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96E08EBE-2F64-4036-98B1-F4BA03AA5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726" y="1658744"/>
            <a:ext cx="10815294" cy="258087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BED9E1D-64CA-4CB7-A7ED-14931573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5DD97E93-B710-47CB-BFCE-00E680ED8A1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67407" y="2685858"/>
            <a:ext cx="10815294" cy="862693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DE402A5-1D85-467E-804A-4F981AD8A3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62727" y="4015304"/>
            <a:ext cx="10815294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37B18CFD-A4A1-4DF1-9F33-2228C8DC16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62727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15D26BC7-8465-44E3-812E-CF519DCBE0A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0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0675D0C7-74F0-4E24-B5CD-9E41D747A518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40899" y="2258555"/>
            <a:ext cx="2417383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B9546058-31E6-4BFA-A53A-87FBEE9B9A2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40899" y="3613782"/>
            <a:ext cx="2417384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A82B758-C36F-4C38-946D-1DE2884F54D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7494" y="4913593"/>
            <a:ext cx="2420789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54521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E78587AB-5770-4348-BEE8-0D7014F52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973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7389F80-B845-4958-B8DD-4E07D70F3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974" y="2790373"/>
            <a:ext cx="2403710" cy="3020062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3248DF7-D6D4-4F8F-8D70-ACCD03D8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1F1EDFC-76D6-4E99-A218-D8E85DBD30F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535142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441B36D0-6772-4C75-8313-42F1623872F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6794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CDA65BD1-CC03-4940-84E6-7935312C731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40316" y="2790372"/>
            <a:ext cx="2403710" cy="3020065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ED74EE4-7B4D-4879-8C22-661E7838733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531496" y="2147161"/>
            <a:ext cx="2403712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E44D078F-D20D-4923-AD68-FB0A14D6266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56794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E2D1E237-2CDF-42AA-9676-9428D1707D4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940316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BE35CA5-5996-46C3-B34E-E5CCCB574C19}"/>
              </a:ext>
            </a:extLst>
          </p:cNvPr>
          <p:cNvCxnSpPr/>
          <p:nvPr userDrawn="1"/>
        </p:nvCxnSpPr>
        <p:spPr bwMode="auto">
          <a:xfrm>
            <a:off x="847974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C39B7D-98B4-46AE-80F7-73CFC9193500}"/>
              </a:ext>
            </a:extLst>
          </p:cNvPr>
          <p:cNvCxnSpPr/>
          <p:nvPr userDrawn="1"/>
        </p:nvCxnSpPr>
        <p:spPr bwMode="auto">
          <a:xfrm>
            <a:off x="3545421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0FB8ADE-B5C4-4FC1-975D-393A59B12515}"/>
              </a:ext>
            </a:extLst>
          </p:cNvPr>
          <p:cNvCxnSpPr/>
          <p:nvPr userDrawn="1"/>
        </p:nvCxnSpPr>
        <p:spPr bwMode="auto">
          <a:xfrm>
            <a:off x="6242868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2D6394-1AD7-4D7A-86DD-9CDDAAE6908B}"/>
              </a:ext>
            </a:extLst>
          </p:cNvPr>
          <p:cNvCxnSpPr/>
          <p:nvPr userDrawn="1"/>
        </p:nvCxnSpPr>
        <p:spPr bwMode="auto">
          <a:xfrm>
            <a:off x="8940316" y="2631266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911498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774E-E425-43E9-B72D-999EE3A9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46572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8444F5-C798-498E-A546-65829383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746041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A81F42EB-2C01-4027-B5AC-D3FA0BF1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772854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182189-CE92-432E-BE01-774AE50AE4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358598"/>
            <a:ext cx="9436335" cy="3240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§"/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D7053FFE-96F8-4423-B515-993136B4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410316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DF6DF5C2-2957-488C-9EB2-478C41CD55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358598"/>
            <a:ext cx="9436335" cy="3240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§"/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E67DB4B-E592-4196-8C94-AFFFB6C6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822841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96E04349-9913-4672-8033-1D329B8505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697252"/>
            <a:ext cx="12061340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AE8E236D-5BF6-4129-812E-212CC8620B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913152"/>
            <a:ext cx="12061512" cy="7559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46496B94-50A9-44E0-983D-2A5B7DD7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696746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AB3B99-282F-4432-9446-316555E9B24D}"/>
              </a:ext>
            </a:extLst>
          </p:cNvPr>
          <p:cNvCxnSpPr>
            <a:cxnSpLocks/>
          </p:cNvCxnSpPr>
          <p:nvPr userDrawn="1"/>
        </p:nvCxnSpPr>
        <p:spPr>
          <a:xfrm>
            <a:off x="1703512" y="731916"/>
            <a:ext cx="0" cy="5937172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cxnSp>
        <p:nvCxnSpPr>
          <p:cNvPr id="22" name="Shape 150">
            <a:extLst>
              <a:ext uri="{FF2B5EF4-FFF2-40B4-BE49-F238E27FC236}">
                <a16:creationId xmlns:a16="http://schemas.microsoft.com/office/drawing/2014/main" id="{31A099EB-BBC7-4FA7-8275-4EB08188CB22}"/>
              </a:ext>
            </a:extLst>
          </p:cNvPr>
          <p:cNvCxnSpPr>
            <a:cxnSpLocks/>
          </p:cNvCxnSpPr>
          <p:nvPr userDrawn="1"/>
        </p:nvCxnSpPr>
        <p:spPr>
          <a:xfrm>
            <a:off x="119336" y="720445"/>
            <a:ext cx="9286582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Shape 152">
            <a:extLst>
              <a:ext uri="{FF2B5EF4-FFF2-40B4-BE49-F238E27FC236}">
                <a16:creationId xmlns:a16="http://schemas.microsoft.com/office/drawing/2014/main" id="{3C52B3C2-3283-4911-8A36-6A439DFDA55D}"/>
              </a:ext>
            </a:extLst>
          </p:cNvPr>
          <p:cNvSpPr txBox="1"/>
          <p:nvPr userDrawn="1"/>
        </p:nvSpPr>
        <p:spPr>
          <a:xfrm>
            <a:off x="7752184" y="469543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altLang="en-US" sz="800" b="0" i="0" u="none" strike="noStrike" kern="1200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Arial"/>
                <a:sym typeface="Arial"/>
              </a:rPr>
              <a:t>내 정보</a:t>
            </a:r>
            <a:r>
              <a:rPr lang="ko-KR" altLang="en-US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          </a:t>
            </a: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24" name="Shape 151">
            <a:extLst>
              <a:ext uri="{FF2B5EF4-FFF2-40B4-BE49-F238E27FC236}">
                <a16:creationId xmlns:a16="http://schemas.microsoft.com/office/drawing/2014/main" id="{24F040E7-595D-43B1-B343-ADEEEC8046EB}"/>
              </a:ext>
            </a:extLst>
          </p:cNvPr>
          <p:cNvSpPr txBox="1"/>
          <p:nvPr userDrawn="1"/>
        </p:nvSpPr>
        <p:spPr>
          <a:xfrm>
            <a:off x="373460" y="431073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B2D8B714-3826-4235-A274-B371A86496A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39" y="808790"/>
            <a:ext cx="1571879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F3FFBB85-3D49-478E-8A0A-4190E79615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065070"/>
            <a:ext cx="140631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FCFE054-0ECC-4302-AC88-9F4FB17796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</a:rPr>
              <a:t>Description</a:t>
            </a: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2E5BA5BB-C182-41DB-8951-9969058283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2" name="제목 3">
            <a:extLst>
              <a:ext uri="{FF2B5EF4-FFF2-40B4-BE49-F238E27FC236}">
                <a16:creationId xmlns:a16="http://schemas.microsoft.com/office/drawing/2014/main" id="{A5FAEA02-93C1-4975-8F3C-41659756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892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8C7C6D0-06FA-4F72-BC24-C023B6975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64452" y="6696583"/>
            <a:ext cx="1708320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Copyright @ </a:t>
            </a:r>
            <a:r>
              <a:rPr lang="en-US" altLang="ko-KR" sz="6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Toothlife.  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All Rights Reserved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8EBC888-248C-40C4-9DF7-9BAA467F4A61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3" r:id="rId2"/>
    <p:sldLayoutId id="2147483727" r:id="rId3"/>
    <p:sldLayoutId id="2147483728" r:id="rId4"/>
    <p:sldLayoutId id="2147483729" r:id="rId5"/>
    <p:sldLayoutId id="2147483730" r:id="rId6"/>
    <p:sldLayoutId id="2147483719" r:id="rId7"/>
    <p:sldLayoutId id="2147483718" r:id="rId8"/>
    <p:sldLayoutId id="2147483716" r:id="rId9"/>
    <p:sldLayoutId id="2147483726" r:id="rId10"/>
    <p:sldLayoutId id="2147483731" r:id="rId11"/>
    <p:sldLayoutId id="2147483734" r:id="rId12"/>
    <p:sldLayoutId id="2147483732" r:id="rId13"/>
    <p:sldLayoutId id="2147483733" r:id="rId14"/>
    <p:sldLayoutId id="2147483721" r:id="rId15"/>
    <p:sldLayoutId id="2147483717" r:id="rId16"/>
    <p:sldLayoutId id="2147483715" r:id="rId17"/>
    <p:sldLayoutId id="2147483714" r:id="rId18"/>
    <p:sldLayoutId id="2147483713" r:id="rId19"/>
    <p:sldLayoutId id="2147483712" r:id="rId20"/>
    <p:sldLayoutId id="2147483711" r:id="rId21"/>
    <p:sldLayoutId id="2147483710" r:id="rId22"/>
    <p:sldLayoutId id="2147483724" r:id="rId2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342077" algn="ctr" defTabSz="914581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684154" algn="ctr" defTabSz="914581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026231" algn="ctr" defTabSz="914581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368308" algn="ctr" defTabSz="914581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30188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399290" indent="-230427" algn="l" defTabSz="914581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741367" indent="-230427" algn="l" defTabSz="914581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083444" indent="-230427" algn="l" defTabSz="914581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425521" indent="-230427" algn="l" defTabSz="914581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077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54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6231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8308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385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2462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4539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6616" algn="l" defTabSz="684154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 userDrawn="1">
          <p15:clr>
            <a:srgbClr val="F26B43"/>
          </p15:clr>
        </p15:guide>
        <p15:guide id="2" pos="5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6EB1DE36-CC80-4EA8-BA53-BA2B824457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AC9A696-4914-4603-B107-D817A64E58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Copyright @ </a:t>
            </a:r>
            <a:r>
              <a:rPr lang="en-US" altLang="ko-KR" sz="6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Toonation.  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All Rights Reserved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CB3F2C-96FD-4C2D-A509-18F1957D5D2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7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510E24F9-855F-4E48-A8E2-19F4A2FCF6A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33973800"/>
              </p:ext>
            </p:extLst>
          </p:nvPr>
        </p:nvGraphicFramePr>
        <p:xfrm>
          <a:off x="144103" y="119789"/>
          <a:ext cx="12000569" cy="219760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Page Name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Project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5">
            <a:extLst>
              <a:ext uri="{FF2B5EF4-FFF2-40B4-BE49-F238E27FC236}">
                <a16:creationId xmlns:a16="http://schemas.microsoft.com/office/drawing/2014/main" id="{A776E1B4-E3CA-41FB-AFE1-32E9AECB39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658C5B-FEDB-4CC2-848E-D718EEB4B6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F065A-F145-4DF5-8199-BCBDC6326A40}"/>
              </a:ext>
            </a:extLst>
          </p:cNvPr>
          <p:cNvSpPr txBox="1"/>
          <p:nvPr userDrawn="1"/>
        </p:nvSpPr>
        <p:spPr>
          <a:xfrm>
            <a:off x="9642514" y="125608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투네이션 채팅</a:t>
            </a:r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D6C96E3D-DFF9-0F3C-188E-B429D2FFD8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Copyright @ </a:t>
            </a:r>
            <a:r>
              <a:rPr lang="en-US" altLang="ko-KR" sz="6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Toonation.  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600197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2.png"/><Relationship Id="rId11" Type="http://schemas.openxmlformats.org/officeDocument/2006/relationships/image" Target="../media/image28.png"/><Relationship Id="rId5" Type="http://schemas.openxmlformats.org/officeDocument/2006/relationships/image" Target="../media/image21.png"/><Relationship Id="rId10" Type="http://schemas.openxmlformats.org/officeDocument/2006/relationships/image" Target="../media/image27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3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20.png"/><Relationship Id="rId9" Type="http://schemas.openxmlformats.org/officeDocument/2006/relationships/image" Target="../media/image34.png"/><Relationship Id="rId1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1.png"/><Relationship Id="rId3" Type="http://schemas.openxmlformats.org/officeDocument/2006/relationships/image" Target="../media/image21.png"/><Relationship Id="rId7" Type="http://schemas.openxmlformats.org/officeDocument/2006/relationships/image" Target="../media/image34.png"/><Relationship Id="rId12" Type="http://schemas.openxmlformats.org/officeDocument/2006/relationships/image" Target="../media/image4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6.png"/><Relationship Id="rId11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17.png"/><Relationship Id="rId4" Type="http://schemas.openxmlformats.org/officeDocument/2006/relationships/image" Target="../media/image22.png"/><Relationship Id="rId9" Type="http://schemas.openxmlformats.org/officeDocument/2006/relationships/image" Target="../media/image39.png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4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2.png"/><Relationship Id="rId11" Type="http://schemas.openxmlformats.org/officeDocument/2006/relationships/image" Target="../media/image43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8.png"/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12" Type="http://schemas.openxmlformats.org/officeDocument/2006/relationships/image" Target="../media/image4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3.png"/><Relationship Id="rId11" Type="http://schemas.openxmlformats.org/officeDocument/2006/relationships/image" Target="../media/image46.png"/><Relationship Id="rId5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B686239-2D49-4CD4-911B-F3054BBE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투네이션 채팅 상세기획서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780BF30-F421-4D96-9589-5FA8B2A7B3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서비스기획 팀 권준호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277F844-F310-4500-8F9A-D2736369F7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Ver.0.1 2026-09-22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8629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3">
            <a:extLst>
              <a:ext uri="{FF2B5EF4-FFF2-40B4-BE49-F238E27FC236}">
                <a16:creationId xmlns:a16="http://schemas.microsoft.com/office/drawing/2014/main" id="{7AB72FEA-6106-477F-8EED-CAD15F0F5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325569"/>
              </p:ext>
            </p:extLst>
          </p:nvPr>
        </p:nvGraphicFramePr>
        <p:xfrm>
          <a:off x="839414" y="912472"/>
          <a:ext cx="10743288" cy="4532751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864098">
                  <a:extLst>
                    <a:ext uri="{9D8B030D-6E8A-4147-A177-3AD203B41FA5}">
                      <a16:colId xmlns:a16="http://schemas.microsoft.com/office/drawing/2014/main" val="259823215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  <a:gridCol w="1022206">
                  <a:extLst>
                    <a:ext uri="{9D8B030D-6E8A-4147-A177-3AD203B41FA5}">
                      <a16:colId xmlns:a16="http://schemas.microsoft.com/office/drawing/2014/main" val="1823104482"/>
                    </a:ext>
                  </a:extLst>
                </a:gridCol>
              </a:tblGrid>
              <a:tr h="4020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No.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승인자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37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0.1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2026-09-22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rgbClr val="39393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작성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88325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9972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145308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798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7986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388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3;p62">
            <a:extLst>
              <a:ext uri="{FF2B5EF4-FFF2-40B4-BE49-F238E27FC236}">
                <a16:creationId xmlns:a16="http://schemas.microsoft.com/office/drawing/2014/main" id="{DBFC2175-7376-99A0-4CA6-008AB0EE6BD6}"/>
              </a:ext>
            </a:extLst>
          </p:cNvPr>
          <p:cNvSpPr txBox="1">
            <a:spLocks/>
          </p:cNvSpPr>
          <p:nvPr/>
        </p:nvSpPr>
        <p:spPr>
          <a:xfrm>
            <a:off x="227157" y="584684"/>
            <a:ext cx="2160239" cy="3632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342077" algn="ctr" defTabSz="914581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684154" algn="ctr" defTabSz="914581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026231" algn="ctr" defTabSz="914581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368308" algn="ctr" defTabSz="914581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kern="0" dirty="0">
                <a:solidFill>
                  <a:srgbClr val="000000"/>
                </a:solidFill>
              </a:rPr>
              <a:t>기본 정책</a:t>
            </a: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Black" panose="020B0A00000000000000" pitchFamily="34" charset="-127"/>
              <a:ea typeface="Noto Sans CJK KR Black" panose="020B0A00000000000000" pitchFamily="34" charset="-127"/>
              <a:cs typeface="+mj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A8263A-ACA8-385D-07D7-00FE4A88A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2" y="80768"/>
            <a:ext cx="1125415" cy="363267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E68D319-95F7-AD29-6CC8-ED9E2134E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170308"/>
              </p:ext>
            </p:extLst>
          </p:nvPr>
        </p:nvGraphicFramePr>
        <p:xfrm>
          <a:off x="407368" y="1087039"/>
          <a:ext cx="10009113" cy="4762876"/>
        </p:xfrm>
        <a:graphic>
          <a:graphicData uri="http://schemas.openxmlformats.org/drawingml/2006/table">
            <a:tbl>
              <a:tblPr/>
              <a:tblGrid>
                <a:gridCol w="2215758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004822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  <a:gridCol w="4788533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</a:tblGrid>
              <a:tr h="3617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cap="all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영역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cap="all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정책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cap="all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2714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열람 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전송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열람은 비로그인 가능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전송은 로그인 필요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미로그인 시 채팅 입력 불가</a:t>
                      </a:r>
                      <a:endParaRPr lang="en-US" altLang="ko-KR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46212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전송 게이트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순차 통과 필요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 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→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제재 → 저속 → 클린봇 순</a:t>
                      </a:r>
                      <a:endParaRPr lang="en-US" altLang="ko-KR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46212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클린봇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부적절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스팸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광고 자동 블라인드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강도 약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투네이션 필터링 시스템 기본 적용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도배 방지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광고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방지</a:t>
                      </a:r>
                      <a:endParaRPr lang="en-US" altLang="ko-KR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667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채팅입력제한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전송 간격 제한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(5/10/30/60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전송 후 선택 간격만큼 쿨타임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채널 본인 제외</a:t>
                      </a:r>
                      <a:endParaRPr lang="en-US" altLang="ko-KR" sz="900" b="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812763"/>
                  </a:ext>
                </a:extLst>
              </a:tr>
              <a:tr h="2714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채팅 얼리기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채팅 입력 금지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활성화 시 채팅 입력 중지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채널 본인 제외</a:t>
                      </a:r>
                      <a:endParaRPr lang="en-US" altLang="ko-KR" sz="900" b="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8370"/>
                  </a:ext>
                </a:extLst>
              </a:tr>
              <a:tr h="46212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최대 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최대 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수정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삭제는 매니저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+.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채팅을 공지로 승격 가능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열람은 전체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채널 공통 등록</a:t>
                      </a:r>
                      <a:endParaRPr lang="en-US" altLang="ko-KR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454583"/>
                  </a:ext>
                </a:extLst>
              </a:tr>
              <a:tr h="3667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참여형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투표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승부예측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동시 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 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시작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종료는 채널 본인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참여는 전체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항목 최소 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  <a:endParaRPr lang="en-US" altLang="ko-KR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829840"/>
                  </a:ext>
                </a:extLst>
              </a:tr>
              <a:tr h="3667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신고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메시지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유저 신고 → 검토 큐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사유 선택 후 접수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즉시 제재를 발생시키지 않음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44519"/>
                  </a:ext>
                </a:extLst>
              </a:tr>
              <a:tr h="3667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차단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유저 채팅 숨김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해제 가능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화면에서만 적용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상대에게 미 통지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차단 목록에서 관리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065609"/>
                  </a:ext>
                </a:extLst>
              </a:tr>
              <a:tr h="3667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모더레이션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블라인드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매니저 모드에서 수행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유저 채팅 블라인드 처리</a:t>
                      </a:r>
                      <a:endParaRPr lang="en-US" altLang="ko-KR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71997"/>
                  </a:ext>
                </a:extLst>
              </a:tr>
              <a:tr h="36676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채널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투네이션</a:t>
                      </a:r>
                      <a:r>
                        <a:rPr lang="en-US" altLang="ko-KR" sz="900" b="1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트위치</a:t>
                      </a:r>
                      <a:r>
                        <a:rPr lang="en-US" altLang="ko-KR" sz="900" b="1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유튜브 독립 채팅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채널별 공지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시청자수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설정 개별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재방문 시 대화 이력 보존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398805"/>
                  </a:ext>
                </a:extLst>
              </a:tr>
              <a:tr h="2714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설정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클린봇 표시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입장 표시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글자 크기</a:t>
                      </a:r>
                      <a:r>
                        <a:rPr lang="en-US" altLang="ko-KR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900" b="1" dirty="0">
                          <a:solidFill>
                            <a:srgbClr val="141A2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테마</a:t>
                      </a:r>
                      <a:endParaRPr lang="ko-KR" altLang="en-US" sz="900" dirty="0">
                        <a:solidFill>
                          <a:srgbClr val="4F5867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시청자별로 적용되며 타인에 영향 없음</a:t>
                      </a:r>
                      <a:r>
                        <a:rPr lang="en-US" altLang="ko-KR" sz="900" dirty="0">
                          <a:solidFill>
                            <a:srgbClr val="4F5867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903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81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DD4E23-ACC9-DFAB-9741-21ABC3C5E0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프론트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E06D18-974E-3657-AAE3-78F87CB7C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698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469C-C803-454F-053B-F75E83CE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CB43A0CC-03BD-FF57-0FF1-E396DDDE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화면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4F91D62F-F22F-FD90-C0FA-58101221D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828985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B798CC91-35FA-8D9E-DF87-8949F0D33947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F3B544-BB97-D54E-B3F9-CCB2400C090D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C1C3DD3-84A1-9B8F-59C4-E0AE4E61F4B8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6D2CD0-473E-0274-78B1-666E85B5B16C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8BA392D-19B6-EC70-A429-5F4292FABE81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DEDF9C0-A400-795E-F183-F7D199BE06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E5A1F9-5541-F210-DFB9-A537892240AA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ECC155A-6EE0-EC09-4C71-0D8D2F492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05CE9A7-F293-6562-FE43-A735A83D1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5A63FB2-56E4-2B2D-B4F5-7922F354BD8A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A66BC13-4D10-EE92-3EEE-7ABED0B42DA2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ED1CD9-9E39-B6AA-395A-6FF4B009153F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933A0CB-1ADE-7903-4977-CB0E5CA654F7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544359-0713-D1DE-F05C-95105CF530B0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44525E1B-C0DD-B9C2-CCCB-05511BF28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121AE0B-AE1B-6152-E180-C2F4F6842E94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6E14C3-D83E-9ED3-85B7-A277895F4F19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4C210F4-D2EC-4FBB-23C5-8E2C6CADC760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1ABC40B-51D5-4CF5-9285-15A5C6EEC10F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618CF0-7F6E-86B2-91D2-C315A085AE87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CC8A50-8360-5588-B41E-8A6A40BD0A9F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9E5CC0-C8A0-BFD2-4391-17D0D958A224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5878FCBF-FD3E-B908-9D23-428C67D2DCCA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8763907-DF0A-9B2A-F386-A8FE0F246A27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D4A520-EC5E-DF25-1A29-493D777632A0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A90E3784-5263-68E1-8F04-87636CD0B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C2104DB-B398-8D67-1F81-A456F63AD2D1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440770-03EE-D9D7-61C9-3949BD58AC04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E413548-93F0-6036-5052-2809DCAC6ED0}"/>
              </a:ext>
            </a:extLst>
          </p:cNvPr>
          <p:cNvSpPr/>
          <p:nvPr/>
        </p:nvSpPr>
        <p:spPr>
          <a:xfrm>
            <a:off x="335627" y="3997724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BF5CC9-B8C7-C7CA-780E-B2A733C6E560}"/>
              </a:ext>
            </a:extLst>
          </p:cNvPr>
          <p:cNvSpPr txBox="1"/>
          <p:nvPr/>
        </p:nvSpPr>
        <p:spPr>
          <a:xfrm>
            <a:off x="676571" y="3971220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8" name="Picture 2" descr="대박">
            <a:extLst>
              <a:ext uri="{FF2B5EF4-FFF2-40B4-BE49-F238E27FC236}">
                <a16:creationId xmlns:a16="http://schemas.microsoft.com/office/drawing/2014/main" id="{1BEFDDEC-A221-FFBC-7B30-511B8EA4F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926935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1C0424E-6643-74C8-28F2-21432C5BCF64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F3CB8F-5006-D677-0421-EE596169EEB8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1520237-2701-7C1F-3536-8482C97942BC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306511-72EC-F6A1-9652-D0FD3209AD55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6AE9527E-2E7D-3F5C-780C-696E8C589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CF82907-7411-EB11-01A2-B18F41F72661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62D852-0A95-280F-5BC2-F4CA1D708DAA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B19AD2A-75EF-411F-ABC6-A870BA18A75D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996C6550-3754-EB3E-E772-5BF5FDBDB83B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F57D4B-E82D-E80D-4BE8-F0445471D6B3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B22AF1-D569-2360-2A8C-DF82997B5B3C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7C6932-052B-A188-088D-8CFD5B57B5CC}"/>
              </a:ext>
            </a:extLst>
          </p:cNvPr>
          <p:cNvSpPr txBox="1"/>
          <p:nvPr/>
        </p:nvSpPr>
        <p:spPr>
          <a:xfrm>
            <a:off x="3058036" y="5242483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1C2ADEE-DA4D-A014-7B66-F8A6C62B7BF9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DF5EEF29-8898-2BA6-6FC5-61B8477AE8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10C2FE8-326E-17DB-D0DF-C6A9EBC4D8D1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61C9FD20-F212-F80F-90F7-571BA6F5EF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AA61DFB-F34F-8CF1-1585-E16CB7849D0D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632F4C0D-5DA3-2B2F-8255-25DD74BA4B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7B93698F-EA03-A73A-7959-698BD8C7EC3E}"/>
              </a:ext>
            </a:extLst>
          </p:cNvPr>
          <p:cNvSpPr/>
          <p:nvPr/>
        </p:nvSpPr>
        <p:spPr>
          <a:xfrm>
            <a:off x="272980" y="709823"/>
            <a:ext cx="3626776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F4BA47C-43D9-FC14-A2A8-FC4CE4DEF5AB}"/>
              </a:ext>
            </a:extLst>
          </p:cNvPr>
          <p:cNvSpPr/>
          <p:nvPr/>
        </p:nvSpPr>
        <p:spPr>
          <a:xfrm>
            <a:off x="272980" y="1115608"/>
            <a:ext cx="3626776" cy="498154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79996E0-6A6C-E181-21BA-83D03786E288}"/>
              </a:ext>
            </a:extLst>
          </p:cNvPr>
          <p:cNvSpPr/>
          <p:nvPr/>
        </p:nvSpPr>
        <p:spPr>
          <a:xfrm>
            <a:off x="272980" y="6112136"/>
            <a:ext cx="3626776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0016C8C2-E67F-560C-803B-0377FAD84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072870"/>
              </p:ext>
            </p:extLst>
          </p:nvPr>
        </p:nvGraphicFramePr>
        <p:xfrm>
          <a:off x="4163739" y="862951"/>
          <a:ext cx="5016729" cy="1449760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채널 탭 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투네이션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유튜브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트위치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탭이 나열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각 탭에는 현재 채팅 숫자 노출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채널 전환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탭을 클릭하면 그 채널로 즉시 전환된다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대화 이력 보존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다른 채널로 이동했다가 돌아오면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이전에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대화 이력이 그대로 유지</a:t>
                      </a:r>
                      <a:endParaRPr lang="en-US" altLang="ko-KR" sz="80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관리 메뉴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클린봇 설정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채팅입력제한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채팅 얼리기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매니저 모드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입장표시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글자크기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차단목록</a:t>
                      </a:r>
                      <a:r>
                        <a:rPr lang="en-US" altLang="ko-KR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참여형 메뉴 설정</a:t>
                      </a:r>
                      <a:endParaRPr lang="en-US" altLang="ko-KR" sz="80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5272A5EB-A137-5B15-F9B9-825D9BA18151}"/>
              </a:ext>
            </a:extLst>
          </p:cNvPr>
          <p:cNvSpPr txBox="1"/>
          <p:nvPr/>
        </p:nvSpPr>
        <p:spPr>
          <a:xfrm>
            <a:off x="4137362" y="630259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채널 영역</a:t>
            </a: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57E4218E-2D5D-7FB4-D274-C54616BB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072012"/>
              </p:ext>
            </p:extLst>
          </p:nvPr>
        </p:nvGraphicFramePr>
        <p:xfrm>
          <a:off x="4163739" y="3467619"/>
          <a:ext cx="5016729" cy="1040238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공지 </a:t>
                      </a:r>
                      <a:r>
                        <a:rPr lang="en-US" altLang="ko-KR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고정</a:t>
                      </a:r>
                      <a:r>
                        <a:rPr lang="en-US" altLang="ko-KR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공지사항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매니저 모드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상단 고정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채팅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투네이션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VIP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등급 표시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도네이터 명 클릭 시 프로필 및 차단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신고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이모티콘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스크롤 시 최근 후원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스크롤 이동 시 최근 후원 노출</a:t>
                      </a:r>
                      <a:endParaRPr lang="en-US" altLang="ko-KR" sz="80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417DE0E0-0233-F23D-B5E7-07E633692732}"/>
              </a:ext>
            </a:extLst>
          </p:cNvPr>
          <p:cNvSpPr txBox="1"/>
          <p:nvPr/>
        </p:nvSpPr>
        <p:spPr>
          <a:xfrm>
            <a:off x="4137362" y="3234927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채팅 뷰어 영역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E9A688B-1881-6786-C892-EBE67A53FBEA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C581DFD8-77F8-B3AE-95D5-37E102168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880360"/>
              </p:ext>
            </p:extLst>
          </p:nvPr>
        </p:nvGraphicFramePr>
        <p:xfrm>
          <a:off x="4163739" y="5808013"/>
          <a:ext cx="5016729" cy="693492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이모티콘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채팅용 이모티콘 기본 제공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채팅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 이내 채팅 입력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24B8116E-2CC1-4D38-1996-D21087C9FF9F}"/>
              </a:ext>
            </a:extLst>
          </p:cNvPr>
          <p:cNvSpPr txBox="1"/>
          <p:nvPr/>
        </p:nvSpPr>
        <p:spPr>
          <a:xfrm>
            <a:off x="4137362" y="5575321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채팅 입력 영역</a:t>
            </a:r>
          </a:p>
        </p:txBody>
      </p: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ACE91270-7376-77B7-CEF6-5F2A8D6E9251}"/>
              </a:ext>
            </a:extLst>
          </p:cNvPr>
          <p:cNvCxnSpPr>
            <a:stCxn id="84" idx="3"/>
            <a:endCxn id="92" idx="1"/>
          </p:cNvCxnSpPr>
          <p:nvPr/>
        </p:nvCxnSpPr>
        <p:spPr>
          <a:xfrm>
            <a:off x="3899756" y="898675"/>
            <a:ext cx="263983" cy="689156"/>
          </a:xfrm>
          <a:prstGeom prst="bentConnector3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964FEA8D-2C5C-73D1-512A-699130DDB670}"/>
              </a:ext>
            </a:extLst>
          </p:cNvPr>
          <p:cNvCxnSpPr/>
          <p:nvPr/>
        </p:nvCxnSpPr>
        <p:spPr>
          <a:xfrm>
            <a:off x="3899756" y="3388240"/>
            <a:ext cx="263983" cy="689156"/>
          </a:xfrm>
          <a:prstGeom prst="bentConnector3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64A66616-5E3A-6A95-D29D-6D508B8EC7FD}"/>
              </a:ext>
            </a:extLst>
          </p:cNvPr>
          <p:cNvCxnSpPr>
            <a:cxnSpLocks/>
            <a:stCxn id="87" idx="3"/>
            <a:endCxn id="102" idx="1"/>
          </p:cNvCxnSpPr>
          <p:nvPr/>
        </p:nvCxnSpPr>
        <p:spPr>
          <a:xfrm flipV="1">
            <a:off x="3899756" y="6154759"/>
            <a:ext cx="263983" cy="146229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그림 113">
            <a:extLst>
              <a:ext uri="{FF2B5EF4-FFF2-40B4-BE49-F238E27FC236}">
                <a16:creationId xmlns:a16="http://schemas.microsoft.com/office/drawing/2014/main" id="{7DA547C5-F34E-A31F-8EC6-2D9E78C296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24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2E540-0053-4B8A-8E3F-5CAE5500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AB16E6BD-F3DB-F31A-FA6E-E8988537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채널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BF568F1A-B16E-56EC-379D-EA027FFC8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572324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F451E7CE-8219-1F58-A9AA-48DDFE539701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FA89D8-832C-3BB6-19AB-32DB4DD0CA33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D38606C-5893-2D13-FC7E-AA2DDC0341D8}"/>
              </a:ext>
            </a:extLst>
          </p:cNvPr>
          <p:cNvSpPr/>
          <p:nvPr/>
        </p:nvSpPr>
        <p:spPr>
          <a:xfrm>
            <a:off x="281772" y="1088740"/>
            <a:ext cx="3610800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5CE6A930-17D1-15D9-A21D-C7A68356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765113F-55E9-40E8-23AF-350ED73A5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F0A813F-2272-EE40-06F4-237A0B3056D8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945FBB8-D3D0-FCFC-B9E3-9DC0C917C5F3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D96576-C06A-3681-326D-FBF733CCF554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2AEC302-97FA-8FEC-06AA-5C61A79BCEC1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DEDA6-C508-6114-9145-CF58426584E3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AC236ED5-50EC-73C2-2F88-E92474A13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91EA8E3-D2C6-815F-76FF-9E1A0CB57DBF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ED4282-D9E8-87C5-2DE7-A1C7D4AA4C2D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F72C469-E559-5B5F-2EFC-82C5184FD31B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6DE27A7-56F6-067A-E6FC-A0DAB3DF8D65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536475-9CAD-B251-F7C5-F28798165739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93939C-F75D-7A1F-F9C7-82967519A14C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903A5B-C0E8-2E01-6AFE-8E6DD1D3ACC4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B4E7E9B-EC17-7AA8-B459-5C3524FF9D7C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B84CA7C-473C-4011-F0EB-85BD98E83AEE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F5CF98-6D3C-1447-A23C-E5D32BB2F89E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1BB2862B-0BF7-0074-CE69-B1BB3A950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CF9E6BF-E2AA-95F5-7943-52910F7E425D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E7F4A8-ECBF-098A-BC23-E38FA8B8CB96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8561A68-9A8B-AEC4-8140-5C410C0BD9AD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8902B6-60A7-571B-F911-134624D75CE1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64EE2E4-D38D-C071-38BE-30313AFF77C1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C4A937-9B38-7227-146A-9D977AC52277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3C371969-350A-8380-F6DE-CCCCDCB9A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2D47E7C-D546-5E3F-4C57-6A796607BD98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47784D-F954-C5D8-E800-598C16B5FB8A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EC07CB8-FB2E-AE7C-BDD6-FC95EBD582A6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4DD78DD-DA80-D094-7B1E-445FD6439D81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05AD0C-3ADD-427A-3561-12B64D9C3408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E2C87DD-726C-3AF7-A6F7-A6A8707B2690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FADDDB-B021-3C92-5727-1946D29D2E3B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EAEFA9B-9D11-3D6A-7E97-BAAE03FA1F29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52A057FB-CBC9-1343-6734-DFC6D424F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53E4370-1998-22F2-F76D-A52C547FA290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E9EE409D-798D-41F9-D642-3700CA2B25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E04750E7-81E2-06B8-EA35-6144AA1D6B00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A2F6DBCE-23EE-D602-0533-B5DC4BEDD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AD3EDF02-898A-A5F3-E116-59F32BC35664}"/>
              </a:ext>
            </a:extLst>
          </p:cNvPr>
          <p:cNvSpPr/>
          <p:nvPr/>
        </p:nvSpPr>
        <p:spPr>
          <a:xfrm>
            <a:off x="3599736" y="709823"/>
            <a:ext cx="300020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21D9D64-94C8-57DF-9FF0-19A69A73C8B2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66538CA-90D6-C825-2431-0C4DCA9723BD}"/>
              </a:ext>
            </a:extLst>
          </p:cNvPr>
          <p:cNvSpPr/>
          <p:nvPr/>
        </p:nvSpPr>
        <p:spPr>
          <a:xfrm>
            <a:off x="4149457" y="709823"/>
            <a:ext cx="2511629" cy="3457685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1C377EA-F0B5-9ADB-CE4B-FA090EA6DC5F}"/>
              </a:ext>
            </a:extLst>
          </p:cNvPr>
          <p:cNvCxnSpPr>
            <a:cxnSpLocks/>
          </p:cNvCxnSpPr>
          <p:nvPr/>
        </p:nvCxnSpPr>
        <p:spPr>
          <a:xfrm>
            <a:off x="4149457" y="1062363"/>
            <a:ext cx="2511629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CE0C59F-BF2A-C971-230D-CEB1A5C31EBA}"/>
              </a:ext>
            </a:extLst>
          </p:cNvPr>
          <p:cNvSpPr txBox="1"/>
          <p:nvPr/>
        </p:nvSpPr>
        <p:spPr>
          <a:xfrm>
            <a:off x="4151998" y="766887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7A57913-7178-3D1D-2249-D025F9D100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4783" y="816030"/>
            <a:ext cx="213378" cy="18289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34C8ED4-1742-EEF7-EA38-1CBAF42B4659}"/>
              </a:ext>
            </a:extLst>
          </p:cNvPr>
          <p:cNvSpPr/>
          <p:nvPr/>
        </p:nvSpPr>
        <p:spPr>
          <a:xfrm>
            <a:off x="4281619" y="1381987"/>
            <a:ext cx="1436727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클린봇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7F15974-01A9-9EBE-6472-82756DF1C97B}"/>
              </a:ext>
            </a:extLst>
          </p:cNvPr>
          <p:cNvSpPr/>
          <p:nvPr/>
        </p:nvSpPr>
        <p:spPr>
          <a:xfrm>
            <a:off x="5820644" y="1369250"/>
            <a:ext cx="594359" cy="254561"/>
          </a:xfrm>
          <a:prstGeom prst="roundRect">
            <a:avLst>
              <a:gd name="adj" fmla="val 835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C8BCA8-C3C3-380A-0FCA-7874AB68D64C}"/>
              </a:ext>
            </a:extLst>
          </p:cNvPr>
          <p:cNvSpPr txBox="1"/>
          <p:nvPr/>
        </p:nvSpPr>
        <p:spPr>
          <a:xfrm>
            <a:off x="6167278" y="1368798"/>
            <a:ext cx="180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05F4CC-37BF-36A4-A080-44B710CE9435}"/>
              </a:ext>
            </a:extLst>
          </p:cNvPr>
          <p:cNvSpPr/>
          <p:nvPr/>
        </p:nvSpPr>
        <p:spPr>
          <a:xfrm>
            <a:off x="4281619" y="1776927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채팅입력제한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B5126B-512E-F71F-0565-D71C626810BB}"/>
              </a:ext>
            </a:extLst>
          </p:cNvPr>
          <p:cNvSpPr/>
          <p:nvPr/>
        </p:nvSpPr>
        <p:spPr>
          <a:xfrm>
            <a:off x="5820644" y="1764190"/>
            <a:ext cx="594359" cy="254561"/>
          </a:xfrm>
          <a:prstGeom prst="roundRect">
            <a:avLst>
              <a:gd name="adj" fmla="val 835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5AA335-0C2F-2B8F-1AD1-F08ABC3211EE}"/>
              </a:ext>
            </a:extLst>
          </p:cNvPr>
          <p:cNvSpPr txBox="1"/>
          <p:nvPr/>
        </p:nvSpPr>
        <p:spPr>
          <a:xfrm>
            <a:off x="6167278" y="1763738"/>
            <a:ext cx="180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3211877-AAC2-AAAE-9905-D91657256EB3}"/>
              </a:ext>
            </a:extLst>
          </p:cNvPr>
          <p:cNvSpPr/>
          <p:nvPr/>
        </p:nvSpPr>
        <p:spPr>
          <a:xfrm>
            <a:off x="4281619" y="2184239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 얼리기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D32E6D7-EB28-FA67-B976-BF3AF2C51C61}"/>
              </a:ext>
            </a:extLst>
          </p:cNvPr>
          <p:cNvSpPr/>
          <p:nvPr/>
        </p:nvSpPr>
        <p:spPr>
          <a:xfrm>
            <a:off x="4274400" y="2594541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입장 표시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3AD231E-9DA7-9AA0-955D-ED9816489A11}"/>
              </a:ext>
            </a:extLst>
          </p:cNvPr>
          <p:cNvSpPr/>
          <p:nvPr/>
        </p:nvSpPr>
        <p:spPr>
          <a:xfrm>
            <a:off x="5393112" y="2594541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글자 크게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0427691-8982-2827-407B-A3B568C3AF9A}"/>
              </a:ext>
            </a:extLst>
          </p:cNvPr>
          <p:cNvSpPr/>
          <p:nvPr/>
        </p:nvSpPr>
        <p:spPr>
          <a:xfrm>
            <a:off x="4261737" y="3161491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차단 목록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13DE6142-DE34-6E66-E1F2-7300A9124920}"/>
              </a:ext>
            </a:extLst>
          </p:cNvPr>
          <p:cNvCxnSpPr/>
          <p:nvPr/>
        </p:nvCxnSpPr>
        <p:spPr>
          <a:xfrm>
            <a:off x="3899756" y="898675"/>
            <a:ext cx="263983" cy="689156"/>
          </a:xfrm>
          <a:prstGeom prst="bentConnector3">
            <a:avLst>
              <a:gd name="adj1" fmla="val 56661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>
            <a:extLst>
              <a:ext uri="{FF2B5EF4-FFF2-40B4-BE49-F238E27FC236}">
                <a16:creationId xmlns:a16="http://schemas.microsoft.com/office/drawing/2014/main" id="{6CF830BC-90FA-A4B8-CD10-80BDAB1E4F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8C137DCA-B1D1-5C72-8060-BD3C5DFDF3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4504" y="755168"/>
            <a:ext cx="2324301" cy="2949196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A5C91C8C-8770-C6E3-481A-C99B31D928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4503" y="4257727"/>
            <a:ext cx="2324301" cy="2362405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4D722721-613E-8BA2-92E2-8745E48C5B86}"/>
              </a:ext>
            </a:extLst>
          </p:cNvPr>
          <p:cNvSpPr txBox="1"/>
          <p:nvPr/>
        </p:nvSpPr>
        <p:spPr>
          <a:xfrm>
            <a:off x="4199775" y="1127999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노출 설정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125F491-0279-D04A-56BC-2EB551D39457}"/>
              </a:ext>
            </a:extLst>
          </p:cNvPr>
          <p:cNvSpPr txBox="1"/>
          <p:nvPr/>
        </p:nvSpPr>
        <p:spPr>
          <a:xfrm>
            <a:off x="4199775" y="2923827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차단 설정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07A228-26F9-CEBC-8718-B51F664E4C3C}"/>
              </a:ext>
            </a:extLst>
          </p:cNvPr>
          <p:cNvSpPr txBox="1"/>
          <p:nvPr/>
        </p:nvSpPr>
        <p:spPr>
          <a:xfrm>
            <a:off x="4199775" y="3491266"/>
            <a:ext cx="9918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부가 기능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9C5DD765-3115-FBD7-E8BA-852AE34E0F55}"/>
              </a:ext>
            </a:extLst>
          </p:cNvPr>
          <p:cNvSpPr/>
          <p:nvPr/>
        </p:nvSpPr>
        <p:spPr>
          <a:xfrm>
            <a:off x="4274400" y="3807773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투표 만들기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968575A-1F55-789D-8C73-5EC8445E556A}"/>
              </a:ext>
            </a:extLst>
          </p:cNvPr>
          <p:cNvSpPr/>
          <p:nvPr/>
        </p:nvSpPr>
        <p:spPr>
          <a:xfrm>
            <a:off x="5436163" y="3807773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승부 예측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4D9D6FA7-55F8-438D-1605-25F27AE4B69E}"/>
              </a:ext>
            </a:extLst>
          </p:cNvPr>
          <p:cNvSpPr/>
          <p:nvPr/>
        </p:nvSpPr>
        <p:spPr>
          <a:xfrm>
            <a:off x="6834018" y="692398"/>
            <a:ext cx="2511629" cy="3051595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0C1FB908-DEF2-9258-62C4-305B24305396}"/>
              </a:ext>
            </a:extLst>
          </p:cNvPr>
          <p:cNvSpPr/>
          <p:nvPr/>
        </p:nvSpPr>
        <p:spPr>
          <a:xfrm>
            <a:off x="6834018" y="4146319"/>
            <a:ext cx="2511629" cy="2473814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7A3CBC15-3C1A-A19C-CA31-549094CDD133}"/>
              </a:ext>
            </a:extLst>
          </p:cNvPr>
          <p:cNvCxnSpPr>
            <a:cxnSpLocks/>
            <a:stCxn id="90" idx="0"/>
          </p:cNvCxnSpPr>
          <p:nvPr/>
        </p:nvCxnSpPr>
        <p:spPr>
          <a:xfrm rot="5400000" flipH="1" flipV="1">
            <a:off x="5803992" y="2707261"/>
            <a:ext cx="118056" cy="2082969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98FDE22-917E-93F8-9DCE-CD939B033262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F6CA4018-1743-A336-58A1-953E55E5067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4FC8A94C-644D-3F41-D7D7-26CAD71FF1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6C1F74A1-B57C-ED67-0172-32E20107BEA1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8855C7FE-7F40-DAC8-AC25-4811F7E07285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072" name="그림 3071">
            <a:extLst>
              <a:ext uri="{FF2B5EF4-FFF2-40B4-BE49-F238E27FC236}">
                <a16:creationId xmlns:a16="http://schemas.microsoft.com/office/drawing/2014/main" id="{9548C724-8A7B-B215-D8B8-6F0690018FD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6085" y="5065664"/>
            <a:ext cx="2333806" cy="1488352"/>
          </a:xfrm>
          <a:prstGeom prst="rect">
            <a:avLst/>
          </a:prstGeom>
        </p:spPr>
      </p:pic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EE551C80-7C4D-2A73-F24E-41785ACA3890}"/>
              </a:ext>
            </a:extLst>
          </p:cNvPr>
          <p:cNvSpPr/>
          <p:nvPr/>
        </p:nvSpPr>
        <p:spPr>
          <a:xfrm>
            <a:off x="4132848" y="4965391"/>
            <a:ext cx="2511629" cy="1664168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9AFEB48A-39E2-0E33-A1B4-4F0340CC8DF2}"/>
              </a:ext>
            </a:extLst>
          </p:cNvPr>
          <p:cNvCxnSpPr>
            <a:cxnSpLocks/>
            <a:stCxn id="91" idx="2"/>
          </p:cNvCxnSpPr>
          <p:nvPr/>
        </p:nvCxnSpPr>
        <p:spPr>
          <a:xfrm rot="16200000" flipH="1">
            <a:off x="6228161" y="3814938"/>
            <a:ext cx="360994" cy="850719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5" name="연결선: 꺾임 3074">
            <a:extLst>
              <a:ext uri="{FF2B5EF4-FFF2-40B4-BE49-F238E27FC236}">
                <a16:creationId xmlns:a16="http://schemas.microsoft.com/office/drawing/2014/main" id="{74834536-F8FD-E27D-CF48-07EE13AA935F}"/>
              </a:ext>
            </a:extLst>
          </p:cNvPr>
          <p:cNvCxnSpPr>
            <a:cxnSpLocks/>
            <a:stCxn id="29" idx="1"/>
            <a:endCxn id="126" idx="1"/>
          </p:cNvCxnSpPr>
          <p:nvPr/>
        </p:nvCxnSpPr>
        <p:spPr>
          <a:xfrm rot="10800000" flipV="1">
            <a:off x="4132849" y="3287505"/>
            <a:ext cx="128889" cy="2509970"/>
          </a:xfrm>
          <a:prstGeom prst="bentConnector3">
            <a:avLst>
              <a:gd name="adj1" fmla="val 209146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60164B-18CD-9B83-FBE0-AAC4001EAD6A}"/>
              </a:ext>
            </a:extLst>
          </p:cNvPr>
          <p:cNvSpPr txBox="1"/>
          <p:nvPr/>
        </p:nvSpPr>
        <p:spPr>
          <a:xfrm>
            <a:off x="4137626" y="470420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메뉴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86622-AB4D-8B36-0286-49E8404723EE}"/>
              </a:ext>
            </a:extLst>
          </p:cNvPr>
          <p:cNvSpPr txBox="1"/>
          <p:nvPr/>
        </p:nvSpPr>
        <p:spPr>
          <a:xfrm>
            <a:off x="6840786" y="470420"/>
            <a:ext cx="1667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부가기능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투표 만들기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5BB64-D30D-C51D-663F-ED29234A353D}"/>
              </a:ext>
            </a:extLst>
          </p:cNvPr>
          <p:cNvSpPr txBox="1"/>
          <p:nvPr/>
        </p:nvSpPr>
        <p:spPr>
          <a:xfrm>
            <a:off x="6840786" y="3908581"/>
            <a:ext cx="1667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부가기능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승부예측 만들기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E2594-2299-F737-F5E7-42C2DAF45DF0}"/>
              </a:ext>
            </a:extLst>
          </p:cNvPr>
          <p:cNvSpPr txBox="1"/>
          <p:nvPr/>
        </p:nvSpPr>
        <p:spPr>
          <a:xfrm>
            <a:off x="4137626" y="4701595"/>
            <a:ext cx="111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차단 목록</a:t>
            </a:r>
          </a:p>
        </p:txBody>
      </p:sp>
    </p:spTree>
    <p:extLst>
      <p:ext uri="{BB962C8B-B14F-4D97-AF65-F5344CB8AC3E}">
        <p14:creationId xmlns:p14="http://schemas.microsoft.com/office/powerpoint/2010/main" val="407178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5CB0C-172C-F8D8-7ABF-2824F6B3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A7FF357D-CC02-0D4B-D8EA-BDFBFFB1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채널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F7D7317A-BAF5-CD5D-D302-48690FE3D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535549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B54AB85F-E27A-E02D-E3BD-87FE1F13B66F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 영역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B85955-B70E-038E-F4DC-F0C3CA8A3498}"/>
              </a:ext>
            </a:extLst>
          </p:cNvPr>
          <p:cNvSpPr/>
          <p:nvPr/>
        </p:nvSpPr>
        <p:spPr>
          <a:xfrm>
            <a:off x="112272" y="929166"/>
            <a:ext cx="2511629" cy="3457685"/>
          </a:xfrm>
          <a:prstGeom prst="roundRect">
            <a:avLst>
              <a:gd name="adj" fmla="val 274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4954-9FF6-04FB-896D-64D5FDAF9546}"/>
              </a:ext>
            </a:extLst>
          </p:cNvPr>
          <p:cNvCxnSpPr>
            <a:cxnSpLocks/>
          </p:cNvCxnSpPr>
          <p:nvPr/>
        </p:nvCxnSpPr>
        <p:spPr>
          <a:xfrm>
            <a:off x="112272" y="1281706"/>
            <a:ext cx="2511629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D48304-7EF6-E3DB-BBB8-161BA12895AE}"/>
              </a:ext>
            </a:extLst>
          </p:cNvPr>
          <p:cNvSpPr txBox="1"/>
          <p:nvPr/>
        </p:nvSpPr>
        <p:spPr>
          <a:xfrm>
            <a:off x="114813" y="98623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5892572-EBFF-0940-9AEF-D3C6671A0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598" y="1035373"/>
            <a:ext cx="213378" cy="182896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32F9DBB-6B6A-ADF8-C2C3-716640F6790B}"/>
              </a:ext>
            </a:extLst>
          </p:cNvPr>
          <p:cNvSpPr/>
          <p:nvPr/>
        </p:nvSpPr>
        <p:spPr>
          <a:xfrm>
            <a:off x="244434" y="1601330"/>
            <a:ext cx="1436727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클린봇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DA01DC3-C7B9-5471-DA58-A2D762B2FD6F}"/>
              </a:ext>
            </a:extLst>
          </p:cNvPr>
          <p:cNvSpPr/>
          <p:nvPr/>
        </p:nvSpPr>
        <p:spPr>
          <a:xfrm>
            <a:off x="1783459" y="1588593"/>
            <a:ext cx="594359" cy="254561"/>
          </a:xfrm>
          <a:prstGeom prst="roundRect">
            <a:avLst>
              <a:gd name="adj" fmla="val 835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26DAB7-C66F-36EC-F401-13E415F62F93}"/>
              </a:ext>
            </a:extLst>
          </p:cNvPr>
          <p:cNvSpPr txBox="1"/>
          <p:nvPr/>
        </p:nvSpPr>
        <p:spPr>
          <a:xfrm>
            <a:off x="2130093" y="1588141"/>
            <a:ext cx="180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35D06F9-8B79-76F5-8ADC-D5D03E8BB912}"/>
              </a:ext>
            </a:extLst>
          </p:cNvPr>
          <p:cNvSpPr/>
          <p:nvPr/>
        </p:nvSpPr>
        <p:spPr>
          <a:xfrm>
            <a:off x="244434" y="1996270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채팅입력제한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EE6FE5-3C44-DA0E-64FD-D0FA21196D92}"/>
              </a:ext>
            </a:extLst>
          </p:cNvPr>
          <p:cNvSpPr/>
          <p:nvPr/>
        </p:nvSpPr>
        <p:spPr>
          <a:xfrm>
            <a:off x="1783459" y="1983533"/>
            <a:ext cx="594359" cy="254561"/>
          </a:xfrm>
          <a:prstGeom prst="roundRect">
            <a:avLst>
              <a:gd name="adj" fmla="val 8351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3D683B-3876-48DB-7ED3-DFA4411ED9D8}"/>
              </a:ext>
            </a:extLst>
          </p:cNvPr>
          <p:cNvSpPr txBox="1"/>
          <p:nvPr/>
        </p:nvSpPr>
        <p:spPr>
          <a:xfrm>
            <a:off x="2130093" y="1983081"/>
            <a:ext cx="180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459066C-2574-8709-F7D7-32D188A86316}"/>
              </a:ext>
            </a:extLst>
          </p:cNvPr>
          <p:cNvSpPr/>
          <p:nvPr/>
        </p:nvSpPr>
        <p:spPr>
          <a:xfrm>
            <a:off x="244434" y="2403582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 얼리기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1C2868C-221C-A41E-FEB0-851FBCD51461}"/>
              </a:ext>
            </a:extLst>
          </p:cNvPr>
          <p:cNvSpPr/>
          <p:nvPr/>
        </p:nvSpPr>
        <p:spPr>
          <a:xfrm>
            <a:off x="237215" y="2813884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입장 표시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2000687-3EDC-B462-D72A-D57857B1458B}"/>
              </a:ext>
            </a:extLst>
          </p:cNvPr>
          <p:cNvSpPr/>
          <p:nvPr/>
        </p:nvSpPr>
        <p:spPr>
          <a:xfrm>
            <a:off x="1355927" y="2813884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글자 크게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DF4AE4A-B81B-CD0D-6FFF-3BF41DD1AB5C}"/>
              </a:ext>
            </a:extLst>
          </p:cNvPr>
          <p:cNvSpPr/>
          <p:nvPr/>
        </p:nvSpPr>
        <p:spPr>
          <a:xfrm>
            <a:off x="224552" y="3380834"/>
            <a:ext cx="1436727" cy="252028"/>
          </a:xfrm>
          <a:prstGeom prst="roundRect">
            <a:avLst>
              <a:gd name="adj" fmla="val 325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차단 목록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06A92B-F4C6-529F-6FA4-E35631F55208}"/>
              </a:ext>
            </a:extLst>
          </p:cNvPr>
          <p:cNvSpPr txBox="1"/>
          <p:nvPr/>
        </p:nvSpPr>
        <p:spPr>
          <a:xfrm>
            <a:off x="162590" y="1347342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노출 설정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8D477E-74E0-2EBA-FFC1-0BABC48EA587}"/>
              </a:ext>
            </a:extLst>
          </p:cNvPr>
          <p:cNvSpPr txBox="1"/>
          <p:nvPr/>
        </p:nvSpPr>
        <p:spPr>
          <a:xfrm>
            <a:off x="162590" y="3143170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차단 설정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C5EA072-BCEA-6F9F-C173-2DEAF459E374}"/>
              </a:ext>
            </a:extLst>
          </p:cNvPr>
          <p:cNvSpPr/>
          <p:nvPr/>
        </p:nvSpPr>
        <p:spPr>
          <a:xfrm>
            <a:off x="256429" y="3983966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투표 만들기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E90BFDCD-E60D-5B67-A3DF-A8C7AFD846FF}"/>
              </a:ext>
            </a:extLst>
          </p:cNvPr>
          <p:cNvSpPr/>
          <p:nvPr/>
        </p:nvSpPr>
        <p:spPr>
          <a:xfrm>
            <a:off x="1418192" y="3983966"/>
            <a:ext cx="1094272" cy="252028"/>
          </a:xfrm>
          <a:prstGeom prst="roundRect">
            <a:avLst>
              <a:gd name="adj" fmla="val 32557"/>
            </a:avLst>
          </a:prstGeom>
          <a:solidFill>
            <a:srgbClr val="E9E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rgbClr val="4655E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승부 예측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2969030-1FFC-EE8E-3607-23A62FEF4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572437"/>
              </p:ext>
            </p:extLst>
          </p:nvPr>
        </p:nvGraphicFramePr>
        <p:xfrm>
          <a:off x="2810502" y="800708"/>
          <a:ext cx="6640808" cy="3797489"/>
        </p:xfrm>
        <a:graphic>
          <a:graphicData uri="http://schemas.openxmlformats.org/drawingml/2006/table">
            <a:tbl>
              <a:tblPr/>
              <a:tblGrid>
                <a:gridCol w="994376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1035366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  <a:gridCol w="3848044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  <a:gridCol w="763022">
                  <a:extLst>
                    <a:ext uri="{9D8B030D-6E8A-4147-A177-3AD203B41FA5}">
                      <a16:colId xmlns:a16="http://schemas.microsoft.com/office/drawing/2014/main" val="4070529318"/>
                    </a:ext>
                  </a:extLst>
                </a:gridCol>
              </a:tblGrid>
              <a:tr h="41328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 대상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상세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310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i="0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클린봇</a:t>
                      </a: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도네이터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클린봇을 켜고 끈다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OFF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두면 판정 대상 메시지도 원문 그대로 보인다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5470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클린봇 강도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차단 민감도를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단계로 조절한다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강할수록 광고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의심 메시지까지 더 공격적으로 가리고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약은 확정 욕설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심한 도배만 가린다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욕설은 강도와 무관하게 항상 차단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endParaRPr lang="en-US" altLang="ko-KR" sz="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52796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채팅입력제한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전송 간격 제한을 켜고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5/10/30/60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중 선택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켜진 상태에서 한 번 보내면 선택한 시간만큼 입력이 잠긴다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 는 채팅입력제한 제외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4190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채팅 얼리기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채팅 입력을 제한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812763"/>
                  </a:ext>
                </a:extLst>
              </a:tr>
              <a:tr h="310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입장표시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공통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입장 알림을 화면에 표시한다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8370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글자 크게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공통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글자 크기를 조정한다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375485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차단 목록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공통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내가 차단한 유저 목록 노출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227769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부가 기능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크리에이터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투표 만들기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승부 예측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189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00FC254-0071-ED6F-1A7A-3FD2BA4C3200}"/>
              </a:ext>
            </a:extLst>
          </p:cNvPr>
          <p:cNvSpPr txBox="1"/>
          <p:nvPr/>
        </p:nvSpPr>
        <p:spPr>
          <a:xfrm>
            <a:off x="162590" y="3720960"/>
            <a:ext cx="6895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부가 기능</a:t>
            </a:r>
          </a:p>
        </p:txBody>
      </p:sp>
    </p:spTree>
    <p:extLst>
      <p:ext uri="{BB962C8B-B14F-4D97-AF65-F5344CB8AC3E}">
        <p14:creationId xmlns:p14="http://schemas.microsoft.com/office/powerpoint/2010/main" val="313955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C1DE4-A9C5-C4DA-D3F8-0EF0DB54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B0540534-3642-ECB0-85E4-CE55C7C2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채널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2AEC0984-7C27-A62A-232D-794BE20BE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134808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A60602D9-C73B-5ED8-F9B3-5CF366AA0B85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클린봇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31033BA-11BC-9D6D-986B-DAEEC504C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20438"/>
              </p:ext>
            </p:extLst>
          </p:nvPr>
        </p:nvGraphicFramePr>
        <p:xfrm>
          <a:off x="299356" y="1124744"/>
          <a:ext cx="5605442" cy="562104"/>
        </p:xfrm>
        <a:graphic>
          <a:graphicData uri="http://schemas.openxmlformats.org/drawingml/2006/table">
            <a:tbl>
              <a:tblPr/>
              <a:tblGrid>
                <a:gridCol w="1476164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366256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  <a:gridCol w="763022">
                  <a:extLst>
                    <a:ext uri="{9D8B030D-6E8A-4147-A177-3AD203B41FA5}">
                      <a16:colId xmlns:a16="http://schemas.microsoft.com/office/drawing/2014/main" val="4070529318"/>
                    </a:ext>
                  </a:extLst>
                </a:gridCol>
              </a:tblGrid>
              <a:tr h="2520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규칙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3100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i="0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금칙어</a:t>
                      </a: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투네이션 금칙어 사전 활용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FB8DB1-3E07-8DAA-456B-6668DDF18E26}"/>
              </a:ext>
            </a:extLst>
          </p:cNvPr>
          <p:cNvSpPr txBox="1"/>
          <p:nvPr/>
        </p:nvSpPr>
        <p:spPr>
          <a:xfrm>
            <a:off x="299356" y="834537"/>
            <a:ext cx="2088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 매칭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D79372-1E8F-C04E-86CB-4DE1CDD115B3}"/>
              </a:ext>
            </a:extLst>
          </p:cNvPr>
          <p:cNvSpPr txBox="1"/>
          <p:nvPr/>
        </p:nvSpPr>
        <p:spPr>
          <a:xfrm>
            <a:off x="299356" y="1863076"/>
            <a:ext cx="2088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스팸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도배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1B39336-D365-24DA-A479-E70078D31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59742"/>
              </p:ext>
            </p:extLst>
          </p:nvPr>
        </p:nvGraphicFramePr>
        <p:xfrm>
          <a:off x="299356" y="2200662"/>
          <a:ext cx="5605442" cy="1182256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402260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  <a:gridCol w="763022">
                  <a:extLst>
                    <a:ext uri="{9D8B030D-6E8A-4147-A177-3AD203B41FA5}">
                      <a16:colId xmlns:a16="http://schemas.microsoft.com/office/drawing/2014/main" val="4070529318"/>
                    </a:ext>
                  </a:extLst>
                </a:gridCol>
              </a:tblGrid>
              <a:tr h="2520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신호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규칙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동일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유사 반복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윈도우 내 같은 정규화본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초당 다발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내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전송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073645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광고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http·www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카톡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텔레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·010-xxxx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패턴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3035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BB3CBDD-9D95-EFE6-2E5C-CEA1FCE9A3C5}"/>
              </a:ext>
            </a:extLst>
          </p:cNvPr>
          <p:cNvSpPr txBox="1"/>
          <p:nvPr/>
        </p:nvSpPr>
        <p:spPr>
          <a:xfrm>
            <a:off x="299356" y="3474283"/>
            <a:ext cx="2088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강도별 판정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75D29642-E93B-9F57-EAF8-BA15071FB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666825"/>
              </p:ext>
            </p:extLst>
          </p:nvPr>
        </p:nvGraphicFramePr>
        <p:xfrm>
          <a:off x="299356" y="3770777"/>
          <a:ext cx="5605442" cy="1182256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1454673545"/>
                    </a:ext>
                  </a:extLst>
                </a:gridCol>
                <a:gridCol w="2617110">
                  <a:extLst>
                    <a:ext uri="{9D8B030D-6E8A-4147-A177-3AD203B41FA5}">
                      <a16:colId xmlns:a16="http://schemas.microsoft.com/office/drawing/2014/main" val="4070529318"/>
                    </a:ext>
                  </a:extLst>
                </a:gridCol>
              </a:tblGrid>
              <a:tr h="2520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강도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임계 값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cap="all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효과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1602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low)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 욕설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강한 도배만 블라인드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관대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mid)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반복 도배까지 차단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073645"/>
                  </a:ext>
                </a:extLst>
              </a:tr>
              <a:tr h="3100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high)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광고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의심까지 공격적 차단</a:t>
                      </a:r>
                    </a:p>
                  </a:txBody>
                  <a:tcPr marL="106680" marR="106680" marT="76200" marB="762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3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668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47E86-20EA-2550-5822-DF54D257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125F7C5A-01D9-C380-A3FD-D59871D3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채널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460800D9-6C99-4450-59EF-DF97BABD9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07474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8ECE3949-F5E9-1666-E89E-ABAE99471B5E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채널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49D827-1BE6-C31E-8BBE-0BD3E5988E54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86D480E-7330-2237-94A6-94169C95F385}"/>
              </a:ext>
            </a:extLst>
          </p:cNvPr>
          <p:cNvSpPr/>
          <p:nvPr/>
        </p:nvSpPr>
        <p:spPr>
          <a:xfrm>
            <a:off x="3318381" y="709823"/>
            <a:ext cx="300020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77B0DB89-BDA6-0C30-67B3-4EF005120C47}"/>
              </a:ext>
            </a:extLst>
          </p:cNvPr>
          <p:cNvCxnSpPr>
            <a:cxnSpLocks/>
          </p:cNvCxnSpPr>
          <p:nvPr/>
        </p:nvCxnSpPr>
        <p:spPr>
          <a:xfrm>
            <a:off x="3604928" y="899633"/>
            <a:ext cx="742230" cy="356091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E717528-3494-F711-A7B5-1F837870FFA4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2565BE52-64BE-7F60-0AFF-5B29742594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A599F12A-0029-6BD8-A032-6962047B4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7FC8CF18-4B85-98F4-35DB-1E76238666F7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3F294F33-DB67-35AF-11FB-0219CFC3B7AA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98C9749-B3F8-3270-DC63-D268A2172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284" y="1037059"/>
            <a:ext cx="3098294" cy="494585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2CF7A8C-A744-75DC-8B98-79B53D9B9E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651"/>
          <a:stretch>
            <a:fillRect/>
          </a:stretch>
        </p:blipFill>
        <p:spPr>
          <a:xfrm>
            <a:off x="4359593" y="721554"/>
            <a:ext cx="3102985" cy="315224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41FF38-2AEB-AE45-B06A-3AA939CCC4F1}"/>
              </a:ext>
            </a:extLst>
          </p:cNvPr>
          <p:cNvSpPr/>
          <p:nvPr/>
        </p:nvSpPr>
        <p:spPr>
          <a:xfrm>
            <a:off x="272980" y="1164804"/>
            <a:ext cx="3626776" cy="5341663"/>
          </a:xfrm>
          <a:prstGeom prst="rect">
            <a:avLst/>
          </a:prstGeom>
          <a:solidFill>
            <a:srgbClr val="F3F5FA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13CBCF5B-600A-BCC7-2C9E-6C455CB81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165" y="3119293"/>
            <a:ext cx="1920406" cy="143268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386170E-ED9E-12D4-99A8-12D3659EB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159" y="6126601"/>
            <a:ext cx="3115420" cy="35439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706B46C-E429-925F-C09C-D2D2EE8470B1}"/>
              </a:ext>
            </a:extLst>
          </p:cNvPr>
          <p:cNvSpPr/>
          <p:nvPr/>
        </p:nvSpPr>
        <p:spPr>
          <a:xfrm>
            <a:off x="1607873" y="4123596"/>
            <a:ext cx="1004792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DD069D85-1032-EBCB-E19E-CFA6A8689D9C}"/>
              </a:ext>
            </a:extLst>
          </p:cNvPr>
          <p:cNvCxnSpPr>
            <a:cxnSpLocks/>
            <a:stCxn id="12" idx="1"/>
            <a:endCxn id="2" idx="3"/>
          </p:cNvCxnSpPr>
          <p:nvPr/>
        </p:nvCxnSpPr>
        <p:spPr>
          <a:xfrm rot="10800000" flipV="1">
            <a:off x="2612666" y="3509986"/>
            <a:ext cx="1751619" cy="802462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869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02ABC-2EC3-9740-4F65-DCE5B0FE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54BC1C06-5F96-2D3B-2CB4-CDDDF8A6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83A6B362-B1EE-E828-8454-649F634EC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642486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B778937B-3A2A-2331-F2D5-C19F7533E696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5BBF4B-05DC-C1F1-34D2-802132EEFD0B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F447BE6-2142-043A-1A74-BB357135AB73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67845BA-C544-2DC0-041B-17A02C494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B69AB0C-7248-D8CD-5FE2-5AA7EC4B5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4A2E939-AD24-460D-8135-A9B9F9E6CEF6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34D95C7-4550-AB6B-07E6-3B14A1E048DE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5BAB8C-C993-36CE-B2E7-FFF06AFDFFC8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5FD728B-0AFF-235D-EEF2-0AC4D24FBB19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9ECA05-82C2-CF59-BCF2-DEAB42CD5A10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3DE26CB7-D467-D68F-D32B-53F38224B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F8D9E7F-DDDE-2191-AE9E-C9351F5FEF44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06AC86-6E9B-F1F3-0FDD-0D79B898109D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4C6235B-1F7C-44D3-9BF2-77605DBE2C17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D3627AB-2586-0EC4-CB9A-F7EE0DF6C9D4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842298-A5AA-ECFA-5160-238E25775128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F7A331-CAD3-ECE9-B88E-22A9AA651219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8C351B-7EB6-B629-BD14-4391AD319611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53E1470-E977-AA97-57B9-B00F7A05FFBC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7B18F4F-C60B-0695-907A-42F6D53C2DD9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0AAE7A-0140-6D5C-9F35-EF10DDB952AD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035A0DCE-7200-1598-7FD3-7A84BA554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FF21B22-5BBA-65E8-3802-1F8F2148EE9A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6E9D0F-2CFC-5730-4D2F-124727BA6E0C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281C509-3472-3FFD-B7AD-FAFECA9B78B7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D33143-1978-07E8-8078-5FD8236197BC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욕설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비속어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0EEB7554-8F89-FEAF-D543-4BA083881396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A5092CC-9F55-D2D0-7E91-A56D1123AB64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A6C5D3-B7AC-7CA1-3FF8-139AA2C34A34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4A78E7-D8C1-F00D-B6E2-3AE8D34F4110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80B689-A438-AA03-7409-F4881FDAB1A7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5EA3890D-2C87-3C6E-530B-AFA5960FA897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F60896B3-57C6-D7C2-37A4-9C92CCC0F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0D259DA-9C05-7EAE-C541-172976DB2DBB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0AEB7E19-3A7D-867A-A636-58B0302C1C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3720363E-6A81-6280-0BA6-964CA4950DAA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BFB1BF07-96BE-9901-4F27-75BFB628E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09688554-D66D-9D51-0BEA-019DEE6525D4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08D42209-C637-7E3A-8169-8D678E57F1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621D45E-238C-E26F-79CD-436B9FF61B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2629" y="4525324"/>
            <a:ext cx="220999" cy="198137"/>
          </a:xfrm>
          <a:prstGeom prst="rect">
            <a:avLst/>
          </a:prstGeom>
        </p:spPr>
      </p:pic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C23904DA-B9B1-AA09-F242-27D35FC7752A}"/>
              </a:ext>
            </a:extLst>
          </p:cNvPr>
          <p:cNvSpPr/>
          <p:nvPr/>
        </p:nvSpPr>
        <p:spPr>
          <a:xfrm>
            <a:off x="335627" y="480932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447ACAE-C1E1-5289-0C57-6DA5C2A11E9A}"/>
              </a:ext>
            </a:extLst>
          </p:cNvPr>
          <p:cNvSpPr txBox="1"/>
          <p:nvPr/>
        </p:nvSpPr>
        <p:spPr>
          <a:xfrm>
            <a:off x="676571" y="47828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광고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연락처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2E7B41DB-DF80-8059-8246-8FD7392564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2629" y="4787850"/>
            <a:ext cx="220999" cy="198137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57157A8-3499-1669-5F0D-D0D05C9BFD6A}"/>
              </a:ext>
            </a:extLst>
          </p:cNvPr>
          <p:cNvSpPr/>
          <p:nvPr/>
        </p:nvSpPr>
        <p:spPr>
          <a:xfrm>
            <a:off x="335627" y="426644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DF5ABDF-45E5-768D-4BF4-E43176096E68}"/>
              </a:ext>
            </a:extLst>
          </p:cNvPr>
          <p:cNvSpPr txBox="1"/>
          <p:nvPr/>
        </p:nvSpPr>
        <p:spPr>
          <a:xfrm>
            <a:off x="676571" y="423994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도배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D6B7FF10-258A-723F-0934-D7FC55A255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2629" y="4244978"/>
            <a:ext cx="220999" cy="198137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E73F6565-4C0F-C01A-4537-BA1251C3A7CA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3" name="그림 122">
            <a:extLst>
              <a:ext uri="{FF2B5EF4-FFF2-40B4-BE49-F238E27FC236}">
                <a16:creationId xmlns:a16="http://schemas.microsoft.com/office/drawing/2014/main" id="{0C4A3069-10A0-B9CD-BD6D-099D93678E18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44D78506-5168-3A55-B226-FC0DB4BEFB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1C700461-CE46-D654-E7A9-5FCAFBCF6C07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96DBDCE-F04D-AC74-BB41-87373EB97F83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B5C401-D527-846D-851D-22DF04D26C61}"/>
              </a:ext>
            </a:extLst>
          </p:cNvPr>
          <p:cNvSpPr/>
          <p:nvPr/>
        </p:nvSpPr>
        <p:spPr>
          <a:xfrm>
            <a:off x="4291978" y="958822"/>
            <a:ext cx="3617984" cy="331024"/>
          </a:xfrm>
          <a:prstGeom prst="rect">
            <a:avLst/>
          </a:prstGeom>
          <a:solidFill>
            <a:srgbClr val="EEF0F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EC96BA-E47E-05EF-2C59-EA276F2625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7179" y="1016278"/>
            <a:ext cx="899238" cy="22862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652F19-9B26-354B-3BDF-CF50D14F916F}"/>
              </a:ext>
            </a:extLst>
          </p:cNvPr>
          <p:cNvSpPr/>
          <p:nvPr/>
        </p:nvSpPr>
        <p:spPr>
          <a:xfrm>
            <a:off x="4291978" y="1660997"/>
            <a:ext cx="3617984" cy="331024"/>
          </a:xfrm>
          <a:prstGeom prst="rect">
            <a:avLst/>
          </a:prstGeom>
          <a:solidFill>
            <a:srgbClr val="EEF0F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61FD4CC-4F05-BF55-D0CD-F658745C57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29952" y="1672539"/>
            <a:ext cx="2865368" cy="304826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7F21BB-63A7-98A7-B3B3-F2B76666781E}"/>
              </a:ext>
            </a:extLst>
          </p:cNvPr>
          <p:cNvSpPr/>
          <p:nvPr/>
        </p:nvSpPr>
        <p:spPr>
          <a:xfrm>
            <a:off x="4291978" y="2364622"/>
            <a:ext cx="3617984" cy="331024"/>
          </a:xfrm>
          <a:prstGeom prst="rect">
            <a:avLst/>
          </a:prstGeom>
          <a:solidFill>
            <a:srgbClr val="EEF0F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DF9DDA3-3C63-C39C-2A82-B90F9716CF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4478" y="2379676"/>
            <a:ext cx="2880610" cy="3124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24CB203-1087-B667-D135-403E5639F749}"/>
              </a:ext>
            </a:extLst>
          </p:cNvPr>
          <p:cNvSpPr txBox="1"/>
          <p:nvPr/>
        </p:nvSpPr>
        <p:spPr>
          <a:xfrm>
            <a:off x="4239036" y="680649"/>
            <a:ext cx="2433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 등록 버튼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없을 시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F14745-AE98-4724-9965-BDA5A7E543A0}"/>
              </a:ext>
            </a:extLst>
          </p:cNvPr>
          <p:cNvSpPr txBox="1"/>
          <p:nvPr/>
        </p:nvSpPr>
        <p:spPr>
          <a:xfrm>
            <a:off x="4239036" y="1398201"/>
            <a:ext cx="2433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 등록 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512F9-ED05-3EA6-340F-CDDEEDA93860}"/>
              </a:ext>
            </a:extLst>
          </p:cNvPr>
          <p:cNvSpPr txBox="1"/>
          <p:nvPr/>
        </p:nvSpPr>
        <p:spPr>
          <a:xfrm>
            <a:off x="4239036" y="2119134"/>
            <a:ext cx="2433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 수정 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3532834-5D85-51A0-251E-58A7BC9CAC6F}"/>
              </a:ext>
            </a:extLst>
          </p:cNvPr>
          <p:cNvSpPr/>
          <p:nvPr/>
        </p:nvSpPr>
        <p:spPr>
          <a:xfrm>
            <a:off x="3398073" y="1104710"/>
            <a:ext cx="300020" cy="37770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BF947B82-A731-1216-AC55-49739770FCC2}"/>
              </a:ext>
            </a:extLst>
          </p:cNvPr>
          <p:cNvCxnSpPr>
            <a:cxnSpLocks/>
            <a:stCxn id="29" idx="2"/>
            <a:endCxn id="19" idx="1"/>
          </p:cNvCxnSpPr>
          <p:nvPr/>
        </p:nvCxnSpPr>
        <p:spPr>
          <a:xfrm rot="16200000" flipH="1">
            <a:off x="3424537" y="1605959"/>
            <a:ext cx="1053486" cy="806395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4660F867-8907-40DD-D9F4-0B1657268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42876"/>
              </p:ext>
            </p:extLst>
          </p:nvPr>
        </p:nvGraphicFramePr>
        <p:xfrm>
          <a:off x="4280110" y="3081242"/>
          <a:ext cx="5249261" cy="958162"/>
        </p:xfrm>
        <a:graphic>
          <a:graphicData uri="http://schemas.openxmlformats.org/drawingml/2006/table">
            <a:tbl>
              <a:tblPr/>
              <a:tblGrid>
                <a:gridCol w="117454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4074721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공지 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📢 아이콘과 함께 공지 문구가 상단에 고정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크리에이터 로그인 시 ✏️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수정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 또는 ➕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등록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을 눌러 입력창에 문구 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공지는 모든 채널에 공통적용 이며 활성 공지는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새 공지는 기존 공지를 대체한다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120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자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도네이터 접근 시 편집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삭제 버튼이 보이지 않고 열람만 가능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68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F8C9-95DB-C546-98B0-A3685B70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3A7BFE9A-C4A8-37D8-64A3-0BA379A38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0704CEA8-A87B-690C-7CD5-C54C756944D0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F3347AD8-AF38-11C8-73ED-3A714B8D5453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F007AD-B984-945F-1D88-A8702A72A67A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05927E5-0F8F-0AEB-A49F-83FF3E397874}"/>
              </a:ext>
            </a:extLst>
          </p:cNvPr>
          <p:cNvSpPr/>
          <p:nvPr/>
        </p:nvSpPr>
        <p:spPr>
          <a:xfrm>
            <a:off x="335627" y="1159380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449622-D88E-6CF8-4F8F-5B64AFB8F932}"/>
              </a:ext>
            </a:extLst>
          </p:cNvPr>
          <p:cNvSpPr txBox="1"/>
          <p:nvPr/>
        </p:nvSpPr>
        <p:spPr>
          <a:xfrm>
            <a:off x="676571" y="1132876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15C3AA7-6803-AF11-B464-A0DBB94A00AB}"/>
              </a:ext>
            </a:extLst>
          </p:cNvPr>
          <p:cNvSpPr/>
          <p:nvPr/>
        </p:nvSpPr>
        <p:spPr>
          <a:xfrm>
            <a:off x="335627" y="1440883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18B3CB-D4CC-F675-3459-5EBF95C9B318}"/>
              </a:ext>
            </a:extLst>
          </p:cNvPr>
          <p:cNvSpPr txBox="1"/>
          <p:nvPr/>
        </p:nvSpPr>
        <p:spPr>
          <a:xfrm>
            <a:off x="676571" y="141437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2ABFC662-B124-76E5-4204-26CDE95D7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370094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57762F5-A8CB-0D1B-FFC6-244395002DC9}"/>
              </a:ext>
            </a:extLst>
          </p:cNvPr>
          <p:cNvSpPr/>
          <p:nvPr/>
        </p:nvSpPr>
        <p:spPr>
          <a:xfrm>
            <a:off x="335627" y="172238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6CC70A-BCF1-D3BA-62A5-E472DF06FEBC}"/>
              </a:ext>
            </a:extLst>
          </p:cNvPr>
          <p:cNvSpPr txBox="1"/>
          <p:nvPr/>
        </p:nvSpPr>
        <p:spPr>
          <a:xfrm>
            <a:off x="676571" y="169588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86642E0-18AE-4885-72AE-CE21106CE4AA}"/>
              </a:ext>
            </a:extLst>
          </p:cNvPr>
          <p:cNvSpPr/>
          <p:nvPr/>
        </p:nvSpPr>
        <p:spPr>
          <a:xfrm>
            <a:off x="334515" y="1990899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4F8A691-0424-48EA-8B2C-AFB5681EC8D7}"/>
              </a:ext>
            </a:extLst>
          </p:cNvPr>
          <p:cNvSpPr/>
          <p:nvPr/>
        </p:nvSpPr>
        <p:spPr>
          <a:xfrm>
            <a:off x="390727" y="2074542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17F481-AA33-E76D-5282-39FB18B27652}"/>
              </a:ext>
            </a:extLst>
          </p:cNvPr>
          <p:cNvSpPr txBox="1"/>
          <p:nvPr/>
        </p:nvSpPr>
        <p:spPr>
          <a:xfrm>
            <a:off x="731671" y="204803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5ED343-B36A-7285-9E0B-78FB476FF08E}"/>
              </a:ext>
            </a:extLst>
          </p:cNvPr>
          <p:cNvSpPr txBox="1"/>
          <p:nvPr/>
        </p:nvSpPr>
        <p:spPr>
          <a:xfrm>
            <a:off x="402581" y="231391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86DF46-6BC6-C3C2-01A6-F6AB81450C4C}"/>
              </a:ext>
            </a:extLst>
          </p:cNvPr>
          <p:cNvSpPr txBox="1"/>
          <p:nvPr/>
        </p:nvSpPr>
        <p:spPr>
          <a:xfrm>
            <a:off x="3058036" y="2183224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185AC2A-A9DD-B479-2AA8-8634F6FECDF7}"/>
              </a:ext>
            </a:extLst>
          </p:cNvPr>
          <p:cNvSpPr/>
          <p:nvPr/>
        </p:nvSpPr>
        <p:spPr>
          <a:xfrm>
            <a:off x="335627" y="2698509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5BAC813-66C5-86B9-9DF2-4DCEBD69674E}"/>
              </a:ext>
            </a:extLst>
          </p:cNvPr>
          <p:cNvSpPr/>
          <p:nvPr/>
        </p:nvSpPr>
        <p:spPr>
          <a:xfrm>
            <a:off x="335627" y="2980012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CC9CA1-3D5C-55EC-6629-61644B71FD8D}"/>
              </a:ext>
            </a:extLst>
          </p:cNvPr>
          <p:cNvSpPr txBox="1"/>
          <p:nvPr/>
        </p:nvSpPr>
        <p:spPr>
          <a:xfrm>
            <a:off x="676571" y="295350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7389BC69-7900-D717-5DFB-DEE507C0F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2909223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16C4E90-99BC-ACBF-0C94-25E36861CB6C}"/>
              </a:ext>
            </a:extLst>
          </p:cNvPr>
          <p:cNvSpPr/>
          <p:nvPr/>
        </p:nvSpPr>
        <p:spPr>
          <a:xfrm>
            <a:off x="335627" y="3250228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BA85CA-769D-9646-D317-9124A47789AF}"/>
              </a:ext>
            </a:extLst>
          </p:cNvPr>
          <p:cNvSpPr txBox="1"/>
          <p:nvPr/>
        </p:nvSpPr>
        <p:spPr>
          <a:xfrm>
            <a:off x="676571" y="3223724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035942E-A8E0-9D90-A3B8-C2C312D951D9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4B3597-55F7-F0BC-A070-5416137DF7FB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욕설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비속어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CE039396-B90B-9159-9F14-90188E7842D0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29A24DF-3B93-A285-A688-09015B31CD8C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BD9888-A3E4-DA0F-712E-B6D2AE387F43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23BF05-0BD7-73D2-2F7B-4A3B5A75B262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2F081B-EF1B-61DE-92C3-B581D6DC3D2A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B44E57FB-0C80-DC2D-FA77-D323308A0F9B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9C737F9F-13D2-8876-2CE3-831F3A65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E68B140-C668-ECC9-43DD-9D759B796AE3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2FE89E94-47C3-20CC-A5E0-3A0695FB1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595B02C-1E88-00D2-DCB5-948383EC365D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AA5C59CE-075B-3033-844F-E19A3FD2A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3F68FF64-7110-1F95-3002-78E8940B9405}"/>
              </a:ext>
            </a:extLst>
          </p:cNvPr>
          <p:cNvSpPr txBox="1"/>
          <p:nvPr/>
        </p:nvSpPr>
        <p:spPr>
          <a:xfrm>
            <a:off x="676571" y="267327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A59748E5-72B3-B874-C2D7-E8F9F412E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04" y="3465275"/>
            <a:ext cx="2789162" cy="236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7EE586F-51DA-F2D6-266B-A0145D20F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2629" y="4525324"/>
            <a:ext cx="220999" cy="198137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4B635EF8-D58C-6B9E-C19D-74B54BE7A0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772" y="1533693"/>
            <a:ext cx="3618000" cy="2154437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2908BB55-AEB1-3F57-F9F3-1D3E26217E58}"/>
              </a:ext>
            </a:extLst>
          </p:cNvPr>
          <p:cNvSpPr/>
          <p:nvPr/>
        </p:nvSpPr>
        <p:spPr>
          <a:xfrm>
            <a:off x="279195" y="1065245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74C17C-057B-7C61-1950-D8010228CAB0}"/>
              </a:ext>
            </a:extLst>
          </p:cNvPr>
          <p:cNvSpPr txBox="1"/>
          <p:nvPr/>
        </p:nvSpPr>
        <p:spPr>
          <a:xfrm>
            <a:off x="504449" y="1183336"/>
            <a:ext cx="129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점심 뭐 먹을까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0DE127B1-01A5-06EE-0287-34603B341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103" y="1199531"/>
            <a:ext cx="181059" cy="181059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C5F1E51-2A75-15CC-8BDE-3E3FC3052987}"/>
              </a:ext>
            </a:extLst>
          </p:cNvPr>
          <p:cNvSpPr txBox="1"/>
          <p:nvPr/>
        </p:nvSpPr>
        <p:spPr>
          <a:xfrm>
            <a:off x="3166281" y="1191130"/>
            <a:ext cx="7200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결과 보기</a:t>
            </a:r>
            <a:r>
              <a:rPr lang="ko-KR" altLang="en-US" sz="600" dirty="0"/>
              <a:t>▼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65E554E1-B5DA-403F-AAEF-A3B506318BBA}"/>
              </a:ext>
            </a:extLst>
          </p:cNvPr>
          <p:cNvSpPr/>
          <p:nvPr/>
        </p:nvSpPr>
        <p:spPr>
          <a:xfrm>
            <a:off x="335627" y="480932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D102746-2B44-F4A4-5139-243D7B0676DA}"/>
              </a:ext>
            </a:extLst>
          </p:cNvPr>
          <p:cNvSpPr txBox="1"/>
          <p:nvPr/>
        </p:nvSpPr>
        <p:spPr>
          <a:xfrm>
            <a:off x="676571" y="47828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광고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연락처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A160B546-3A18-22F2-A883-8A6D1641E7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2629" y="4787850"/>
            <a:ext cx="220999" cy="198137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94758AD-888B-9AF3-9392-0826ED7B9976}"/>
              </a:ext>
            </a:extLst>
          </p:cNvPr>
          <p:cNvSpPr/>
          <p:nvPr/>
        </p:nvSpPr>
        <p:spPr>
          <a:xfrm>
            <a:off x="335627" y="426644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2969785-F0DA-AD05-B0E2-6408E8DC1D35}"/>
              </a:ext>
            </a:extLst>
          </p:cNvPr>
          <p:cNvSpPr txBox="1"/>
          <p:nvPr/>
        </p:nvSpPr>
        <p:spPr>
          <a:xfrm>
            <a:off x="676571" y="423994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분탕러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클린봇이 가린 메시지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도배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i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C84AB773-B3AB-9C62-4978-3FA82F370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2629" y="4244978"/>
            <a:ext cx="220999" cy="198137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70C52144-D602-B39F-BA49-94132BD0832D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3" name="그림 122">
            <a:extLst>
              <a:ext uri="{FF2B5EF4-FFF2-40B4-BE49-F238E27FC236}">
                <a16:creationId xmlns:a16="http://schemas.microsoft.com/office/drawing/2014/main" id="{9266AD16-7972-1F81-8DCF-37069EBC2AB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FD48D23A-9C5C-D59C-AFCD-D98C514A7D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79A0B4A4-4CE7-F1ED-0748-8404DBE897CB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7FA316CF-9E26-DBAD-6DF2-E2C7697F6F4F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9038354-367D-61CC-E034-A5C0FF090DD5}"/>
              </a:ext>
            </a:extLst>
          </p:cNvPr>
          <p:cNvGrpSpPr/>
          <p:nvPr/>
        </p:nvGrpSpPr>
        <p:grpSpPr>
          <a:xfrm>
            <a:off x="4262744" y="1629862"/>
            <a:ext cx="3617984" cy="2027162"/>
            <a:chOff x="4295362" y="1952696"/>
            <a:chExt cx="3617984" cy="202716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31DFD5D-D92D-86EE-4188-AAB709D89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95362" y="1952696"/>
              <a:ext cx="3617984" cy="2027162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208C0C7-BFC4-962F-F3A3-6239783C8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420163" y="3671396"/>
              <a:ext cx="371313" cy="219412"/>
            </a:xfrm>
            <a:prstGeom prst="rect">
              <a:avLst/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71A711-233E-EA55-09CE-825410277303}"/>
              </a:ext>
            </a:extLst>
          </p:cNvPr>
          <p:cNvSpPr/>
          <p:nvPr/>
        </p:nvSpPr>
        <p:spPr>
          <a:xfrm>
            <a:off x="4343981" y="3339770"/>
            <a:ext cx="3427819" cy="271360"/>
          </a:xfrm>
          <a:prstGeom prst="rect">
            <a:avLst/>
          </a:prstGeom>
          <a:solidFill>
            <a:srgbClr val="F1F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144752-DFD6-5116-4506-5338D40F37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5976" y="3381226"/>
            <a:ext cx="1158340" cy="2514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A61270-7822-8664-070B-94A3F5011099}"/>
              </a:ext>
            </a:extLst>
          </p:cNvPr>
          <p:cNvSpPr txBox="1"/>
          <p:nvPr/>
        </p:nvSpPr>
        <p:spPr>
          <a:xfrm>
            <a:off x="4290684" y="3391470"/>
            <a:ext cx="1624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결과를 어떻게 할까요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4977A6-5F33-C68A-8F0F-0F2493052B7B}"/>
              </a:ext>
            </a:extLst>
          </p:cNvPr>
          <p:cNvSpPr/>
          <p:nvPr/>
        </p:nvSpPr>
        <p:spPr>
          <a:xfrm>
            <a:off x="353088" y="3322654"/>
            <a:ext cx="3471209" cy="300047"/>
          </a:xfrm>
          <a:prstGeom prst="rect">
            <a:avLst/>
          </a:prstGeom>
          <a:solidFill>
            <a:srgbClr val="F1F2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4C640E3F-DA4C-3E03-E7DB-A016B5C71E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5058" y="3363983"/>
            <a:ext cx="371313" cy="21941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B2F677A-F830-6FF3-0534-E30BE9B5237A}"/>
              </a:ext>
            </a:extLst>
          </p:cNvPr>
          <p:cNvSpPr/>
          <p:nvPr/>
        </p:nvSpPr>
        <p:spPr>
          <a:xfrm>
            <a:off x="3427068" y="3307187"/>
            <a:ext cx="337201" cy="306754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9B9175B7-0FE4-4208-CFAA-C7469D907C3A}"/>
              </a:ext>
            </a:extLst>
          </p:cNvPr>
          <p:cNvCxnSpPr>
            <a:cxnSpLocks/>
            <a:stCxn id="96" idx="3"/>
            <a:endCxn id="6" idx="1"/>
          </p:cNvCxnSpPr>
          <p:nvPr/>
        </p:nvCxnSpPr>
        <p:spPr>
          <a:xfrm flipV="1">
            <a:off x="3786371" y="2643443"/>
            <a:ext cx="476373" cy="830246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CEE2ADBF-30A5-6E47-F2F9-7E7CF9642BB9}"/>
              </a:ext>
            </a:extLst>
          </p:cNvPr>
          <p:cNvCxnSpPr>
            <a:cxnSpLocks/>
            <a:stCxn id="8" idx="2"/>
            <a:endCxn id="87" idx="3"/>
          </p:cNvCxnSpPr>
          <p:nvPr/>
        </p:nvCxnSpPr>
        <p:spPr>
          <a:xfrm rot="5400000" flipH="1">
            <a:off x="4398826" y="786388"/>
            <a:ext cx="2333856" cy="3358785"/>
          </a:xfrm>
          <a:prstGeom prst="bentConnector4">
            <a:avLst>
              <a:gd name="adj1" fmla="val -9795"/>
              <a:gd name="adj2" fmla="val 92914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15D4C9EF-0534-D327-301E-4CF1F398D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824857"/>
              </p:ext>
            </p:extLst>
          </p:nvPr>
        </p:nvGraphicFramePr>
        <p:xfrm>
          <a:off x="4250645" y="4053979"/>
          <a:ext cx="5016729" cy="1758192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편집 창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투표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승부예측을 시작하면 먼저 편집 창이 뜬다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. 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질문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40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과 항목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(2~6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각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24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을 입력하고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"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항목 추가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"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로 늘리거나 ✕로 줄인다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최소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2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시작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"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시작하기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"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를 누르면 편집한 질문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항목 그대로 참여 패널이 상단에 생성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시작을 알리는 시스템 메시지가 나온다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참여 </a:t>
                      </a:r>
                      <a:r>
                        <a:rPr lang="en-US" altLang="ko-KR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항목을 클릭해 참여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선택 항목에 ✓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).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다른 항목을 클릭하면 표가 옮겨진다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(1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인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변경 가능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실시간 집계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항목별 진행률 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퍼센트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표수가 참여에 따라 실시간으로 갱신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809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8D88-51A0-308A-6151-265D5702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FF83D13D-CEFE-49E9-FE2E-D9984D44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70FCDDEC-D539-896A-82D0-98CE9A67D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555170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53225D8E-170E-E8DD-3A5B-E9795CF7ABEA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62011E-4B94-BD8E-5EDC-549CED54FFB6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34013E-2349-2842-E5AC-ADC586418253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075AEF1-2547-FB83-6F0A-46729ED99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3CB832F-450B-6D16-7526-BA62661D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F904D91-1F26-930A-F264-AF8E433580A7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5EF4507-6B53-5D9D-AF0C-D47BC19C0C97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CC0085-6A54-E82F-181A-A414E1D72E27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FB30536-19E0-677E-20F0-8D41794298C9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577676-4411-4856-F5F3-749CA25CBA16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398E9765-564C-15CC-67E5-BB7BD6B5E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1A7AA05-7968-BBEE-D609-9CDEED5F99C4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6F30F7-28FD-A49D-6720-92EECD151EAE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FA1044-B04D-166B-354D-899F845FBEDB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CE28955-F3FB-C2DC-EF2E-08E9827552B9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8F9F49-D5DF-1473-0067-9B94FF8A1090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A7CEEF-3ACF-63B4-F6C5-C6D718F771C7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2FB078-C301-B93A-D4F5-9999733A5BFA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1CBE0FE-655E-1989-7D34-5762BBC4D34A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948989A-4ABE-6B17-2886-7B7C13415D06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973062-055C-20DE-D12A-D04BD29AA444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BE841294-6122-6368-2B84-484F2FAE5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8CE898D-E519-518B-CC06-D3DC2B084379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4958F5-2836-FEB4-0C1F-17C0BB0EBA26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7106BF9-6372-AD09-5D0A-F2A49650EACF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B88C14-FAA2-7B0E-1715-0D9D97265BA1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98EC1A82-42D2-E8A1-6A6C-473F25F13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FD30564-8392-F8CC-B14F-34F58EF1EE10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712BB7-6D00-B552-8D48-FFCE57A42168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B767CAB7-DFEA-FCFB-1C85-F13874F58392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6DF4B823-4139-67AD-3A90-753930A87326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86D1DE-3D9E-2712-EC1B-A19ACA40521B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C61D6E-0B5A-90D1-E8E6-5AA62EA8F9D9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94869E-7672-4BB9-7923-D3089D74472D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0678261-F8EB-F730-1350-3BFF6D324B04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99A977EE-A677-3277-AB10-ED7BC3C92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C196F20-6F32-71F8-1599-1229D19CEA82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14E9F4AC-3C2F-DBC2-9EEA-39C47A063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AD47BD23-CAC6-802C-1226-187B3FCA522F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16F4EDD8-DE92-AA8A-90D4-293066E52D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E378DDDC-1D86-99DF-F53F-0CF327B20CD1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76246EE-B8C8-2D4C-1EAD-5001B6E716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95A3504D-43C7-1F40-4013-E7CD88104EA0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528A8DDB-D515-7364-1BA3-8F7A3DD4F54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1998CCE3-836C-539E-E673-19686F38A4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FD56EA66-21BB-0A8B-2AC0-F4C7E9BC50CD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500DA803-F7BE-96B4-2106-6E7322309220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275199B-696E-754F-40AD-D3C4203FBA41}"/>
              </a:ext>
            </a:extLst>
          </p:cNvPr>
          <p:cNvSpPr/>
          <p:nvPr/>
        </p:nvSpPr>
        <p:spPr>
          <a:xfrm>
            <a:off x="341477" y="4203345"/>
            <a:ext cx="3489782" cy="259103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accent1">
                    <a:lumMod val="75000"/>
                  </a:schemeClr>
                </a:solidFill>
              </a:rPr>
              <a:t>나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오늘 방송 꿀잼 각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0F933FE6-C195-8E40-9851-D1522CB3C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706209"/>
              </p:ext>
            </p:extLst>
          </p:nvPr>
        </p:nvGraphicFramePr>
        <p:xfrm>
          <a:off x="4303347" y="695306"/>
          <a:ext cx="5016729" cy="1575312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메시지 라인 구성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줄은 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뱃지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[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닉네임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색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)] [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본문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순으로 표시된다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멘션 하이라이트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닉은 강조색으로 표시된다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본인이 </a:t>
                      </a:r>
                      <a:r>
                        <a:rPr lang="ko-KR" altLang="en-US" sz="800" b="1" i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멘션된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메시지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는 좌측 강조 바와 배경으로 눈에 띄게 부각된다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블라인드 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클린봇이 가린 메시지는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클린봇이 가린 메시지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)"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표시되고 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보기</a:t>
                      </a:r>
                      <a:r>
                        <a:rPr lang="en-US" altLang="ko-KR" sz="800" b="1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개별 원문을 열 수 있다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실제 가림 여부는 개인 클린봇 설정을 따른다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삭제 </a:t>
                      </a:r>
                      <a:r>
                        <a:rPr lang="en-US" altLang="ko-KR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차단 표시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매니저가 삭제한 메시지는 취소선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흐림 처리된다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내가 차단한 유저의 메시지는 목록에서 숨겨진다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785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F0A7C-D68D-8CD5-A1EB-D1827217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41BD00F4-8422-27A6-65E0-417086AF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DEE1B5DF-AF42-968A-C66A-1449A0A39E9F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7AAF6D9D-557A-BA4F-9561-2E038D615B21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D57F43-14A8-597E-36BB-BBA44FCCDD43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33DA4F-D9C3-54DF-F4D7-CE9AE78F6BA9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5CC465E-8C28-C53D-813A-9402F28C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4BD72AA-45CC-BE91-69A4-1A430370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42A40A6-4F37-1D4D-DFFF-11952C898408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4D34688-FDF5-9645-4E27-889847CF72C2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00BE54-A313-0B5B-9C41-E227923104E3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9EB3121-8F1C-6E9C-A80B-A63A6390EB18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40DB6D-971D-6ECE-0DEE-F31BA5FA771A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87B62157-2A5B-2616-0CAE-127AE78A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6FC4CA0-8F1B-8985-B86F-22F4C11A70C4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ABD8DA-9740-64F9-3D4E-999001218AB3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32582D7-80DD-2B7A-AB9F-346AD76AD94F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E41BA59-54E4-102F-8123-DCE62471000E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60D5CD-155B-88F0-D775-292991BE1530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C3F25D-EE0F-8E18-EF14-26D6C90EC97F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B12EF4-6612-9FA6-625A-82A5996FCAD7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30CB5AF-237C-99C5-AEC4-64CE4BA779E4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CA445B4-07B8-F29D-98D0-B55E7064484E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C991C7-9F08-B12A-BD1F-7FB609CC1E8A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432919C6-9D25-35A8-7F83-205E38B6A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31D70E3-A88F-5449-0F07-E8D8560471FE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E9D4C1-C96D-CCC8-18D2-1A8EB5CAAE1A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3E56BDE-FD16-7930-64B8-92D9334A0FAC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897D1E-4214-FE85-3E7F-73420E016999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A4A73E1-2CA2-DB59-AB0E-BC48C7F7AB93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67F037-079F-A997-725D-1EB076434639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AD08A8B3-E992-CF11-08A7-044A73A08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E73ACB8-AEEB-047E-0071-72E2FE417906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074E0C-3630-6020-DDA1-28CA897DE1B3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04B38F75-3EF8-1205-F1DA-611C0259463F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20429CAB-9981-BF17-85CE-6C13290A3708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298480-FED4-974B-5C34-33F78335692B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1416B8-8494-D400-E7DB-32EFCCDAEF39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5B9905-BDF8-EEBB-28A0-21D21ECDF1BB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E23A58B-A4CB-A402-2A2E-30C8C3F7D922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F8EE304A-FB77-00A2-CBD9-7A32F547E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AECB879-C022-F65C-E4ED-198AC8FF2117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8FEFC7D2-286A-03A8-1F25-202EA414D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AF2167D-3E3A-7643-2303-185AC96C952B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DF5E46EA-95EA-87A1-ED30-181AA2AB1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BB9B3C52-A2FC-9DA0-7863-3F6B87D0FF9F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C57C6D1-362E-4DC8-86AB-499FE58CDD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CC6A371D-0587-2DC2-3780-DCB74EAB6178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A26F0D50-E08E-0E91-7A5D-7B652649553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2B7CF6C4-6E40-9849-5130-FB90E7727A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CF37F773-C807-B8E6-CCD1-BF2811181A00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3088D37E-9A63-415C-27FE-B26211BBAC03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9A269D7-D8E8-E8D3-6DE9-BFA7D6E4C78C}"/>
              </a:ext>
            </a:extLst>
          </p:cNvPr>
          <p:cNvGrpSpPr/>
          <p:nvPr/>
        </p:nvGrpSpPr>
        <p:grpSpPr>
          <a:xfrm>
            <a:off x="4187344" y="1716671"/>
            <a:ext cx="3512109" cy="617595"/>
            <a:chOff x="4225385" y="550961"/>
            <a:chExt cx="3512109" cy="617595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EDF857B-DD04-EFC1-CA25-F70085C92EBD}"/>
                </a:ext>
              </a:extLst>
            </p:cNvPr>
            <p:cNvSpPr/>
            <p:nvPr/>
          </p:nvSpPr>
          <p:spPr>
            <a:xfrm>
              <a:off x="4225385" y="550961"/>
              <a:ext cx="3489783" cy="61759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1AEB447-F7F5-2157-1BAC-8C858013AAD7}"/>
                </a:ext>
              </a:extLst>
            </p:cNvPr>
            <p:cNvSpPr/>
            <p:nvPr/>
          </p:nvSpPr>
          <p:spPr>
            <a:xfrm>
              <a:off x="4281597" y="634604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SVIP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E28D07-639F-3514-EFE1-B32DCDBCC568}"/>
                </a:ext>
              </a:extLst>
            </p:cNvPr>
            <p:cNvSpPr txBox="1"/>
            <p:nvPr/>
          </p:nvSpPr>
          <p:spPr>
            <a:xfrm>
              <a:off x="4622541" y="608100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열혈팬</a:t>
              </a:r>
              <a:r>
                <a:rPr lang="en-US" altLang="ko-KR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4E239B-EDBD-EC60-5C14-B7F9862E5925}"/>
                </a:ext>
              </a:extLst>
            </p:cNvPr>
            <p:cNvSpPr txBox="1"/>
            <p:nvPr/>
          </p:nvSpPr>
          <p:spPr>
            <a:xfrm>
              <a:off x="4293451" y="873980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텍스트후원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오늘 방송 미쳤다 후원 받아라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743C3D-8AC8-B098-2640-1B83BA17CD9A}"/>
                </a:ext>
              </a:extLst>
            </p:cNvPr>
            <p:cNvSpPr txBox="1"/>
            <p:nvPr/>
          </p:nvSpPr>
          <p:spPr>
            <a:xfrm>
              <a:off x="6948906" y="743286"/>
              <a:ext cx="7885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1,000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캐시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57E658E-440C-1D2C-551C-950BA7DDF144}"/>
              </a:ext>
            </a:extLst>
          </p:cNvPr>
          <p:cNvGrpSpPr/>
          <p:nvPr/>
        </p:nvGrpSpPr>
        <p:grpSpPr>
          <a:xfrm>
            <a:off x="4199158" y="2553116"/>
            <a:ext cx="3512109" cy="617595"/>
            <a:chOff x="4225385" y="1289897"/>
            <a:chExt cx="3512109" cy="617595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CEE2BA5A-41CF-962B-34C5-7089286DF0E1}"/>
                </a:ext>
              </a:extLst>
            </p:cNvPr>
            <p:cNvSpPr/>
            <p:nvPr/>
          </p:nvSpPr>
          <p:spPr>
            <a:xfrm>
              <a:off x="4225385" y="1289897"/>
              <a:ext cx="3489783" cy="61759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090B435-D0DB-3EE6-39A6-94AEDFB9C389}"/>
                </a:ext>
              </a:extLst>
            </p:cNvPr>
            <p:cNvSpPr/>
            <p:nvPr/>
          </p:nvSpPr>
          <p:spPr>
            <a:xfrm>
              <a:off x="4281597" y="1373540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SVIP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14B1DA-069A-216F-9380-2F2AC4182D68}"/>
                </a:ext>
              </a:extLst>
            </p:cNvPr>
            <p:cNvSpPr txBox="1"/>
            <p:nvPr/>
          </p:nvSpPr>
          <p:spPr>
            <a:xfrm>
              <a:off x="4622541" y="1347036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열혈팬</a:t>
              </a:r>
              <a:r>
                <a:rPr lang="en-US" altLang="ko-KR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627234-76F3-764A-4380-B3E41AAAE728}"/>
                </a:ext>
              </a:extLst>
            </p:cNvPr>
            <p:cNvSpPr txBox="1"/>
            <p:nvPr/>
          </p:nvSpPr>
          <p:spPr>
            <a:xfrm>
              <a:off x="4293451" y="1612916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룰렛후원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오늘 방송 미쳤다 후원 받아라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47339C-7242-A45A-EED7-4D5CBD6077B7}"/>
                </a:ext>
              </a:extLst>
            </p:cNvPr>
            <p:cNvSpPr txBox="1"/>
            <p:nvPr/>
          </p:nvSpPr>
          <p:spPr>
            <a:xfrm>
              <a:off x="6816080" y="1482222"/>
              <a:ext cx="9214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10,000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캐시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7DAD0D7-A7F7-AFDF-EB28-A544C6CA60BC}"/>
              </a:ext>
            </a:extLst>
          </p:cNvPr>
          <p:cNvGrpSpPr/>
          <p:nvPr/>
        </p:nvGrpSpPr>
        <p:grpSpPr>
          <a:xfrm>
            <a:off x="4199158" y="3354676"/>
            <a:ext cx="3512109" cy="617595"/>
            <a:chOff x="4225385" y="2026720"/>
            <a:chExt cx="3512109" cy="617595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03C9F976-1A95-B816-4507-D61C9C648315}"/>
                </a:ext>
              </a:extLst>
            </p:cNvPr>
            <p:cNvSpPr/>
            <p:nvPr/>
          </p:nvSpPr>
          <p:spPr>
            <a:xfrm>
              <a:off x="4225385" y="2026720"/>
              <a:ext cx="3489783" cy="61759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9ADA417-EFF4-8995-6650-60B464C14071}"/>
                </a:ext>
              </a:extLst>
            </p:cNvPr>
            <p:cNvSpPr/>
            <p:nvPr/>
          </p:nvSpPr>
          <p:spPr>
            <a:xfrm>
              <a:off x="4281597" y="2110363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SVIP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85F7B32-2296-C736-0E09-C57174F8B2F8}"/>
                </a:ext>
              </a:extLst>
            </p:cNvPr>
            <p:cNvSpPr txBox="1"/>
            <p:nvPr/>
          </p:nvSpPr>
          <p:spPr>
            <a:xfrm>
              <a:off x="4622541" y="2083859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열혈팬</a:t>
              </a:r>
              <a:r>
                <a:rPr lang="en-US" altLang="ko-KR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F88083-3074-C5BF-2801-38D6170B9036}"/>
                </a:ext>
              </a:extLst>
            </p:cNvPr>
            <p:cNvSpPr txBox="1"/>
            <p:nvPr/>
          </p:nvSpPr>
          <p:spPr>
            <a:xfrm>
              <a:off x="4293451" y="2349739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텍스트후원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오늘 방송 미쳤다 후원 받아라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94ED52C-4E82-ECEC-9A81-ABAD5ED691B8}"/>
                </a:ext>
              </a:extLst>
            </p:cNvPr>
            <p:cNvSpPr txBox="1"/>
            <p:nvPr/>
          </p:nvSpPr>
          <p:spPr>
            <a:xfrm>
              <a:off x="6816080" y="2219045"/>
              <a:ext cx="9214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50,000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캐시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4C19831-B82A-21F2-E2C6-957A5D29F1B2}"/>
              </a:ext>
            </a:extLst>
          </p:cNvPr>
          <p:cNvGrpSpPr/>
          <p:nvPr/>
        </p:nvGrpSpPr>
        <p:grpSpPr>
          <a:xfrm>
            <a:off x="4206988" y="4135026"/>
            <a:ext cx="3512109" cy="617595"/>
            <a:chOff x="4225385" y="2798332"/>
            <a:chExt cx="3512109" cy="617595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D57A7613-3D5C-B1E6-7CF5-3B626C45E384}"/>
                </a:ext>
              </a:extLst>
            </p:cNvPr>
            <p:cNvSpPr/>
            <p:nvPr/>
          </p:nvSpPr>
          <p:spPr>
            <a:xfrm>
              <a:off x="4225385" y="2798332"/>
              <a:ext cx="3489783" cy="617595"/>
            </a:xfrm>
            <a:prstGeom prst="roundRect">
              <a:avLst/>
            </a:prstGeom>
            <a:solidFill>
              <a:srgbClr val="CC7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8AE91E10-B122-EB0A-A6F9-9B3BFB222D6C}"/>
                </a:ext>
              </a:extLst>
            </p:cNvPr>
            <p:cNvSpPr/>
            <p:nvPr/>
          </p:nvSpPr>
          <p:spPr>
            <a:xfrm>
              <a:off x="4281597" y="2881975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SVIP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B3751B1-E3C3-C946-D0FE-BB0443CD3C16}"/>
                </a:ext>
              </a:extLst>
            </p:cNvPr>
            <p:cNvSpPr txBox="1"/>
            <p:nvPr/>
          </p:nvSpPr>
          <p:spPr>
            <a:xfrm>
              <a:off x="4622541" y="2855471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열혈팬</a:t>
              </a:r>
              <a:r>
                <a:rPr lang="en-US" altLang="ko-KR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호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F3C1742-5835-F011-3EE1-C4FC0E50C678}"/>
                </a:ext>
              </a:extLst>
            </p:cNvPr>
            <p:cNvSpPr txBox="1"/>
            <p:nvPr/>
          </p:nvSpPr>
          <p:spPr>
            <a:xfrm>
              <a:off x="4293451" y="3121351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텍스트후원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오늘 방송 미쳤다 후원 받아라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B65951C-4B07-3E5A-2B65-EA4B61D8E906}"/>
                </a:ext>
              </a:extLst>
            </p:cNvPr>
            <p:cNvSpPr txBox="1"/>
            <p:nvPr/>
          </p:nvSpPr>
          <p:spPr>
            <a:xfrm>
              <a:off x="6744072" y="2990657"/>
              <a:ext cx="9934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100,000 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캐시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678505E-058A-29EA-5468-7C026EF1AD5B}"/>
              </a:ext>
            </a:extLst>
          </p:cNvPr>
          <p:cNvGraphicFramePr>
            <a:graphicFrameLocks noGrp="1"/>
          </p:cNvGraphicFramePr>
          <p:nvPr/>
        </p:nvGraphicFramePr>
        <p:xfrm>
          <a:off x="4106622" y="1598869"/>
          <a:ext cx="5311524" cy="3316508"/>
        </p:xfrm>
        <a:graphic>
          <a:graphicData uri="http://schemas.openxmlformats.org/drawingml/2006/table">
            <a:tbl>
              <a:tblPr/>
              <a:tblGrid>
                <a:gridCol w="3856117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1455407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829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+mn-ea"/>
                        </a:rPr>
                        <a:t>~ 9,999 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+mn-ea"/>
                        </a:rPr>
                        <a:t>캐시 후원</a:t>
                      </a:r>
                      <a:endParaRPr lang="en-US" altLang="ko-KR" sz="800" b="0" i="0" dirty="0">
                        <a:solidFill>
                          <a:srgbClr val="4F586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829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+mn-ea"/>
                        </a:rPr>
                        <a:t>10,000~ 49,999 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+mn-ea"/>
                        </a:rPr>
                        <a:t>캐시 후원</a:t>
                      </a:r>
                      <a:endParaRPr lang="en-US" altLang="ko-KR" sz="800" b="0" i="0" dirty="0">
                        <a:solidFill>
                          <a:srgbClr val="4F586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829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+mn-ea"/>
                        </a:rPr>
                        <a:t>50,000~ 99,999 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+mn-ea"/>
                        </a:rPr>
                        <a:t>캐시 후원</a:t>
                      </a:r>
                      <a:endParaRPr lang="en-US" altLang="ko-KR" sz="800" i="0" dirty="0">
                        <a:solidFill>
                          <a:srgbClr val="4F586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8291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ko-KR" altLang="en-US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+mn-ea"/>
                        </a:rPr>
                        <a:t>100,000~ 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+mn-ea"/>
                        </a:rPr>
                        <a:t>캐시 후원</a:t>
                      </a:r>
                      <a:endParaRPr lang="en-US" altLang="ko-KR" sz="800" i="0" dirty="0">
                        <a:solidFill>
                          <a:srgbClr val="4F586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885A983-BDD2-0E5C-1DA4-8DAB99977C4A}"/>
              </a:ext>
            </a:extLst>
          </p:cNvPr>
          <p:cNvSpPr txBox="1"/>
          <p:nvPr/>
        </p:nvSpPr>
        <p:spPr>
          <a:xfrm>
            <a:off x="4094082" y="1260998"/>
            <a:ext cx="2433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후원 금액 구간 별 색상 차별화</a:t>
            </a:r>
          </a:p>
        </p:txBody>
      </p:sp>
    </p:spTree>
    <p:extLst>
      <p:ext uri="{BB962C8B-B14F-4D97-AF65-F5344CB8AC3E}">
        <p14:creationId xmlns:p14="http://schemas.microsoft.com/office/powerpoint/2010/main" val="2375212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8763-A585-4E31-7EB8-F86F2A8A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2D986883-C93C-8D39-8B1C-500180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채팅 뷰어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C7C82004-2D1D-A487-6B31-C1114A400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07575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D0D80A26-5D08-07F4-0BA3-DFE9CBEBDD22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뷰어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459BF6-4362-FF47-E777-A2FFD8E9C80C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20D021-FA2F-8898-270D-EA973AAD1F3D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C80D998-EBC1-2474-E143-BA7AA73D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FC7952F-0430-C372-7D20-817684EF5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560856C-B45D-380D-8059-3C5A9F8AACFE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91E6B25-6BE9-0844-2F8F-D5122C7EF99E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B6CCAE-F5EC-5519-1994-293AA754323C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3AD9BF2-C930-EB6C-B1E2-0BE9FA2A837C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EC0A80-C84B-34EA-0108-C5721D015C29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9E2D4B16-B835-3C0A-98FC-CCA25377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A96AD1F-86F5-D33E-B37B-7F3D22E718B2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BB4670-639E-A107-E14F-C6C16586CC6F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7874486-BF9F-CEE0-7627-9932AB3DD9EB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458B2F4-6474-E4D5-BF47-798897C2A4B6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7D2405-A515-D234-F0FC-FF91F7B94FF3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FC6C37-73F7-2E67-935C-1B4C5D4213CF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F94B14-6497-CB09-B229-0946A65D7047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31AC31C-7DF7-5BF6-831B-C5FC99246B56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BE2DA80-4ACD-A0AD-D2BA-3C1B4849A1ED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5ED46C-32C2-B4E6-1090-26C4D58B2E02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5A2D680C-7E31-8C42-5C89-C923AFD2D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E446101-1AFD-D45F-FED0-AE0ED6843266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B5E5B4-04D7-DAB4-E00C-6DDA814E8FD4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7C6BF45-951A-804A-6141-14B8171E78DD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4A740B-7408-C980-5EB8-CA40C23186EB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864BFE1-E6B3-B08D-097A-AFE4E2FD48C7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4F36BF-F83D-EE13-C719-001FEB88EAB7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A58D1255-178D-2D2E-A7EB-ACEDD0EF4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730FF3A-76AE-17A3-57D8-1D23308F61A8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A4A4E19-4EB3-8CAE-54BD-7084BAAD34CB}"/>
              </a:ext>
            </a:extLst>
          </p:cNvPr>
          <p:cNvSpPr txBox="1"/>
          <p:nvPr/>
        </p:nvSpPr>
        <p:spPr>
          <a:xfrm>
            <a:off x="786771" y="4790507"/>
            <a:ext cx="3037526" cy="215444"/>
          </a:xfrm>
          <a:prstGeom prst="rect">
            <a:avLst/>
          </a:prstGeom>
          <a:solidFill>
            <a:srgbClr val="E9EDF4">
              <a:alpha val="59000"/>
            </a:srgbClr>
          </a:solidFill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534850C-5EF8-F66D-2063-468A455AAA3C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8630650-788A-228B-4143-3C209872DA47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A9F689-768A-B007-5334-19FB63C7F366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7F9D94-6703-17E5-32B3-3FFDB880FF6C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869521-6402-1F68-E901-FD184D3D009E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2F81767-A852-6820-83F0-DBB3D7D5105B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F4026529-12E0-A680-16B3-02ADC9537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8E894B4-5C1A-9FE9-5097-70033DFD1101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7BACE329-627D-29CB-4575-1864F5A2D2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0AF81CB0-3EA1-7526-0867-6EE1D3DF091D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</a:rPr>
              <a:t>채팅 입력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D3B52588-0ABE-D5FA-D28A-57E817E52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89D35DF3-619D-3204-1025-9A8255CF9E9B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5C7B34F-7CDB-0714-433F-6DB2F6EF31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FC0837E-45F1-C0EB-5541-FC1DE03CD132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2809959E-268A-3AB8-A332-F26F988F9BA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F1F0DCA2-80D4-0C1F-D4D6-CAE754C2C3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5AB023B5-50A7-1481-7E2D-510CC6765E26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DA443CB5-FFC8-0F3E-807A-CF6A1F8C79B7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16959A-81A7-81DB-79F8-AA0645F14C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8969" y="707774"/>
            <a:ext cx="2070827" cy="2356927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FFBCA7B-FDC2-84A8-1E9F-F63AFA7637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363" y="4813237"/>
            <a:ext cx="152400" cy="152400"/>
          </a:xfrm>
          <a:prstGeom prst="rect">
            <a:avLst/>
          </a:prstGeom>
        </p:spPr>
      </p:pic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3CD9641-A36C-9F4D-1485-4C01C61DF43B}"/>
              </a:ext>
            </a:extLst>
          </p:cNvPr>
          <p:cNvCxnSpPr>
            <a:cxnSpLocks/>
            <a:endCxn id="8" idx="1"/>
          </p:cNvCxnSpPr>
          <p:nvPr/>
        </p:nvCxnSpPr>
        <p:spPr>
          <a:xfrm rot="5400000" flipH="1" flipV="1">
            <a:off x="2445955" y="3073846"/>
            <a:ext cx="2900622" cy="525406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F6675A16-E433-431B-75C8-0D8C4EE6BE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4032" y="703371"/>
            <a:ext cx="2316681" cy="960938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96A4C6-74BA-88CD-486F-51AF7933373E}"/>
              </a:ext>
            </a:extLst>
          </p:cNvPr>
          <p:cNvSpPr/>
          <p:nvPr/>
        </p:nvSpPr>
        <p:spPr>
          <a:xfrm>
            <a:off x="6786507" y="729747"/>
            <a:ext cx="900100" cy="420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D2F4C75-8E3D-BAAB-8976-28261530A303}"/>
              </a:ext>
            </a:extLst>
          </p:cNvPr>
          <p:cNvGrpSpPr/>
          <p:nvPr/>
        </p:nvGrpSpPr>
        <p:grpSpPr>
          <a:xfrm>
            <a:off x="6834735" y="811787"/>
            <a:ext cx="936619" cy="215444"/>
            <a:chOff x="5539032" y="5661055"/>
            <a:chExt cx="936619" cy="215444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4EC2D6A-A777-2CC5-3E9F-D3B2305AE4D5}"/>
                </a:ext>
              </a:extLst>
            </p:cNvPr>
            <p:cNvSpPr/>
            <p:nvPr/>
          </p:nvSpPr>
          <p:spPr>
            <a:xfrm>
              <a:off x="5539032" y="5687559"/>
              <a:ext cx="396044" cy="180020"/>
            </a:xfrm>
            <a:prstGeom prst="roundRect">
              <a:avLst>
                <a:gd name="adj" fmla="val 37599"/>
              </a:avLst>
            </a:prstGeom>
            <a:solidFill>
              <a:srgbClr val="51DB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VIP</a:t>
              </a:r>
              <a:endPara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CBD14C6-41AA-02B3-279D-EF22E436ACB7}"/>
                </a:ext>
              </a:extLst>
            </p:cNvPr>
            <p:cNvSpPr txBox="1"/>
            <p:nvPr/>
          </p:nvSpPr>
          <p:spPr>
            <a:xfrm>
              <a:off x="5879977" y="5661055"/>
              <a:ext cx="5956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24D1D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단골도네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B6997A2-D27B-3AD5-CD29-B2DE0A8D3C79}"/>
              </a:ext>
            </a:extLst>
          </p:cNvPr>
          <p:cNvSpPr/>
          <p:nvPr/>
        </p:nvSpPr>
        <p:spPr>
          <a:xfrm>
            <a:off x="769187" y="4754269"/>
            <a:ext cx="543728" cy="25135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E99F09E9-7C09-4D01-BE7F-6D9738AE4546}"/>
              </a:ext>
            </a:extLst>
          </p:cNvPr>
          <p:cNvCxnSpPr>
            <a:cxnSpLocks/>
            <a:stCxn id="77" idx="0"/>
            <a:endCxn id="22" idx="1"/>
          </p:cNvCxnSpPr>
          <p:nvPr/>
        </p:nvCxnSpPr>
        <p:spPr>
          <a:xfrm rot="5400000" flipH="1" flipV="1">
            <a:off x="1927327" y="297565"/>
            <a:ext cx="3570429" cy="5342981"/>
          </a:xfrm>
          <a:prstGeom prst="bentConnector2">
            <a:avLst/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11B7FB0-9600-4931-1ECA-BF6DACE4C85F}"/>
              </a:ext>
            </a:extLst>
          </p:cNvPr>
          <p:cNvSpPr txBox="1"/>
          <p:nvPr/>
        </p:nvSpPr>
        <p:spPr>
          <a:xfrm>
            <a:off x="4131723" y="4810829"/>
            <a:ext cx="1548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 채팅 영역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CEA20A1-7814-5EB8-0830-AD49F5D6A69F}"/>
              </a:ext>
            </a:extLst>
          </p:cNvPr>
          <p:cNvSpPr/>
          <p:nvPr/>
        </p:nvSpPr>
        <p:spPr>
          <a:xfrm>
            <a:off x="322965" y="5664675"/>
            <a:ext cx="3535576" cy="421829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2AE57FD1-EB42-C50B-F0A7-9BAB89D64AA3}"/>
              </a:ext>
            </a:extLst>
          </p:cNvPr>
          <p:cNvCxnSpPr>
            <a:cxnSpLocks/>
            <a:stCxn id="89" idx="3"/>
          </p:cNvCxnSpPr>
          <p:nvPr/>
        </p:nvCxnSpPr>
        <p:spPr>
          <a:xfrm flipV="1">
            <a:off x="3858541" y="5795023"/>
            <a:ext cx="147706" cy="80567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8697916C-962F-801A-DAE8-7490DEFC4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130370"/>
              </p:ext>
            </p:extLst>
          </p:nvPr>
        </p:nvGraphicFramePr>
        <p:xfrm>
          <a:off x="4131723" y="5065630"/>
          <a:ext cx="5016729" cy="1632640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스크롤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</a:rPr>
                        <a:t>·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최신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미리보기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새 메시지의 자동 스크롤과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과거 로그를 볼 때의 최신 채팅 미리보기 동작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자동 스크롤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하단 고정 상태에서는 새 메시지가 올라올 때마다 자동으로 최신 위치로 스크롤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스크롤 잠금</a:t>
                      </a:r>
                      <a:endParaRPr lang="en-US" altLang="ko-KR" sz="800" b="1" dirty="0">
                        <a:solidFill>
                          <a:srgbClr val="141A26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미리보기 바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채팅을 위로 올리면 자동 스크롤이 멈추고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하단에 방금 올라온 최신 채팅 한 줄이 미리보기 표기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새 메시지가 올 때마다 미리보기가 갱신되고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쌓인 개수는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</a:rPr>
                        <a:t>+N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배지로 표시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최신 복귀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미리보기 바 또는 ▼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</a:rPr>
                        <a:t>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</a:rPr>
                        <a:t> 누르면 최신 위치로 돌아가고 자동 스크롤이 재개</a:t>
                      </a:r>
                      <a:endParaRPr lang="en-US" altLang="ko-KR" sz="800" dirty="0"/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DD2A5225-1726-7472-898B-5FB2B74BA2CE}"/>
              </a:ext>
            </a:extLst>
          </p:cNvPr>
          <p:cNvSpPr txBox="1"/>
          <p:nvPr/>
        </p:nvSpPr>
        <p:spPr>
          <a:xfrm>
            <a:off x="4131723" y="3224156"/>
            <a:ext cx="1548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차단</a:t>
            </a:r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C5143CD0-F336-6304-F0C1-C3FD04637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02573"/>
              </p:ext>
            </p:extLst>
          </p:nvPr>
        </p:nvGraphicFramePr>
        <p:xfrm>
          <a:off x="4131723" y="3478957"/>
          <a:ext cx="5016729" cy="1231920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신고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신고 모달에는 대상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메시지 발췌 또는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유저명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표시되고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스팸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도배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욕설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비하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음란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부적절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광고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홍보 </a:t>
                      </a:r>
                      <a:r>
                        <a:rPr lang="en-US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800" b="1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하나를 선택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신고 제출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 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모달이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닫히고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신고가 접수되었습니다 토스트 메시지 노출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신고는 운영 검토 큐로 전달되며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즉시 제재를 발생시키지 않는다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차단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컨트롤 바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차단 목록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누르면 차단한 유저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뱃지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닉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목록이 표시된다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항목의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차단 해제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누르면 목록에서 제거되고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숨겨졌던 그 유저의 메시지가 즉시 다시 나타난다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553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8A28-B685-F504-8D91-6D9B75A9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7A4A8151-A25E-AEFB-D7EA-B5B8BA76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1368152" cy="243544"/>
          </a:xfrm>
        </p:spPr>
        <p:txBody>
          <a:bodyPr/>
          <a:lstStyle/>
          <a:p>
            <a:r>
              <a:rPr lang="ko-KR" altLang="en-US" dirty="0"/>
              <a:t>채팅 입력 영역</a:t>
            </a:r>
          </a:p>
        </p:txBody>
      </p:sp>
      <p:graphicFrame>
        <p:nvGraphicFramePr>
          <p:cNvPr id="9" name="Group 323">
            <a:extLst>
              <a:ext uri="{FF2B5EF4-FFF2-40B4-BE49-F238E27FC236}">
                <a16:creationId xmlns:a16="http://schemas.microsoft.com/office/drawing/2014/main" id="{EAF898D9-F580-DB3D-601D-244BA664F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274071"/>
              </p:ext>
            </p:extLst>
          </p:nvPr>
        </p:nvGraphicFramePr>
        <p:xfrm>
          <a:off x="9625013" y="575703"/>
          <a:ext cx="2519969" cy="1538499"/>
        </p:xfrm>
        <a:graphic>
          <a:graphicData uri="http://schemas.openxmlformats.org/drawingml/2006/table">
            <a:tbl>
              <a:tblPr/>
              <a:tblGrid>
                <a:gridCol w="25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76599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68E99557-5E39-2933-8BDE-33B9F3AC68D4}"/>
              </a:ext>
            </a:extLst>
          </p:cNvPr>
          <p:cNvSpPr txBox="1"/>
          <p:nvPr/>
        </p:nvSpPr>
        <p:spPr>
          <a:xfrm>
            <a:off x="161762" y="40365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채팅 입력 영역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18ED24-8C81-CF24-9E5E-47ED6228A803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081E7D6-2D28-48F2-F7EA-C2913BBA6784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AE67140-E833-B545-D6DF-B3B0B0983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DE05FC3-C301-EB71-CA38-39AA6D2DF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F807283-CDDE-25EA-0EB6-1E16581CC9B4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550368E-A734-652A-4E1A-BBFA0B79F8D3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AF0CE3-904A-191A-B6FD-4FB5D2D30975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99306CE-46F8-D084-5EDE-85C4F12007D6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AA0646-41B9-CCBA-45B0-9677E9F97EA9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3074" name="Picture 2" descr="대박">
            <a:extLst>
              <a:ext uri="{FF2B5EF4-FFF2-40B4-BE49-F238E27FC236}">
                <a16:creationId xmlns:a16="http://schemas.microsoft.com/office/drawing/2014/main" id="{3DEE9665-7DB4-D065-0EB9-6A6C1D50A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C2AEE00-5E81-1F59-181C-5852044CABAB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AD51EC-7E15-1590-C86C-99C2E04B7626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DBBA4E4-2039-3CD3-5860-3402E7590DFF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BCD6506-56D4-586E-A171-399A48A69939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19DA3F-91C0-0625-76D7-E2C536F1F9E1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accent5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5FE718-4704-69CD-16F5-675103E4089E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640FA1-3EAF-FA09-B645-F02335AFE393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D100122-F4E6-57E1-61E0-6882CAFCADDB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6DE1CCA-9909-FCC3-7A33-96D786AC8B6F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8E178C-F719-680E-95B8-CBCC67169477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53" name="Picture 2" descr="대박">
            <a:extLst>
              <a:ext uri="{FF2B5EF4-FFF2-40B4-BE49-F238E27FC236}">
                <a16:creationId xmlns:a16="http://schemas.microsoft.com/office/drawing/2014/main" id="{CDEAD6F6-1425-3F6D-4125-6942187A0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4B0B4E6-B088-A148-E4B2-AA54C0BD9917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FE4AE7-E07F-48B1-27BD-AC6C8CB01B80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8ED8967-EDE8-A6D9-30A9-6DB005AF21F0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B365BF-A1FD-64C7-FF80-82BAD6A1FE5E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0CB7F03-B00F-86F5-6D00-B12D0699E8FC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CA5D66-5BE2-2D92-0FA3-10A046A94EB3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3" name="Picture 2" descr="대박">
            <a:extLst>
              <a:ext uri="{FF2B5EF4-FFF2-40B4-BE49-F238E27FC236}">
                <a16:creationId xmlns:a16="http://schemas.microsoft.com/office/drawing/2014/main" id="{2AE71E4E-FDF9-A7F7-EF76-6E16B3A47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0EA73EE-AD61-EB97-7DA2-196E126B9A0D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VIP</a:t>
            </a:r>
            <a:endParaRPr lang="ko-KR" altLang="en-US" sz="8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16EC7A-3BA7-27D9-E424-FEFA2C329D49}"/>
              </a:ext>
            </a:extLst>
          </p:cNvPr>
          <p:cNvSpPr txBox="1"/>
          <p:nvPr/>
        </p:nvSpPr>
        <p:spPr>
          <a:xfrm>
            <a:off x="786771" y="4790507"/>
            <a:ext cx="3037526" cy="215444"/>
          </a:xfrm>
          <a:prstGeom prst="rect">
            <a:avLst/>
          </a:prstGeom>
          <a:solidFill>
            <a:srgbClr val="E9EDF4">
              <a:alpha val="59000"/>
            </a:srgbClr>
          </a:solidFill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F860A70-C4BA-37B1-417B-6C77DEE0F5CE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43A2FE2-F510-8310-6E56-2BD62398DA64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SVIP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2FD803-6C7E-DEB8-3D2E-D1D9895C48D8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1DCEEC-BCE3-5C16-2CF1-BCC49D9B374C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B0E8D7-610E-795D-5B89-3817F98DFE2F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133CCDA5-A5FB-B6D9-26C6-AF68B81FB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3AFE4D8F-0A49-75D3-4CDF-017C3F558973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 @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B7D87C44-A7C9-83BF-9A01-AFD0283FC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A19E90AE-9A8A-CE39-27C1-624F83057C5B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FDF0E74-9D3B-D662-67E4-1F9EAE8DB5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84502BF-5F64-7A51-044F-004CFCA777E5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트위치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9D95CD3E-1F3B-48FD-72F0-7E361C4C65D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7BA0C488-5912-75FA-5CD7-BF5202C300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4F84479-ACC9-A766-7743-243EBF99A2FC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유튜브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2FE7D7C-3E92-740D-1EB1-474E50ECDCFD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●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투네이션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999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89384A3-911A-E126-F45E-A805424BA6B9}"/>
              </a:ext>
            </a:extLst>
          </p:cNvPr>
          <p:cNvGrpSpPr/>
          <p:nvPr/>
        </p:nvGrpSpPr>
        <p:grpSpPr>
          <a:xfrm>
            <a:off x="326040" y="4246697"/>
            <a:ext cx="3489783" cy="1889223"/>
            <a:chOff x="4644264" y="2359735"/>
            <a:chExt cx="3489783" cy="1889223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BF004B86-95CB-ED34-CA99-03128F0CD751}"/>
                </a:ext>
              </a:extLst>
            </p:cNvPr>
            <p:cNvSpPr/>
            <p:nvPr/>
          </p:nvSpPr>
          <p:spPr>
            <a:xfrm>
              <a:off x="4644264" y="2359735"/>
              <a:ext cx="3489782" cy="352277"/>
            </a:xfrm>
            <a:prstGeom prst="roundRect">
              <a:avLst>
                <a:gd name="adj" fmla="val 34427"/>
              </a:avLst>
            </a:prstGeom>
            <a:solidFill>
              <a:srgbClr val="E9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62088DB7-A31D-D7B8-9DCB-62EDA5DE4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17868" y="2432551"/>
              <a:ext cx="198137" cy="198137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066307-373F-7F45-73BD-C2E44FA577AB}"/>
                </a:ext>
              </a:extLst>
            </p:cNvPr>
            <p:cNvSpPr txBox="1"/>
            <p:nvPr/>
          </p:nvSpPr>
          <p:spPr>
            <a:xfrm>
              <a:off x="4750755" y="2416552"/>
              <a:ext cx="26405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rgbClr val="24D1D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단골도네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다음 방송 언제예요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?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B07453D-C89B-8AAE-B6B0-34831E958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4265" y="2723964"/>
              <a:ext cx="3489782" cy="1524994"/>
            </a:xfrm>
            <a:prstGeom prst="rect">
              <a:avLst/>
            </a:prstGeom>
          </p:spPr>
        </p:pic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DB64F4-113E-087A-6305-D89388F7DEFF}"/>
              </a:ext>
            </a:extLst>
          </p:cNvPr>
          <p:cNvSpPr/>
          <p:nvPr/>
        </p:nvSpPr>
        <p:spPr>
          <a:xfrm>
            <a:off x="323780" y="6143592"/>
            <a:ext cx="352791" cy="283728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9F44C497-B452-6DFD-E07F-B6403FB40175}"/>
              </a:ext>
            </a:extLst>
          </p:cNvPr>
          <p:cNvCxnSpPr>
            <a:cxnSpLocks/>
            <a:stCxn id="6" idx="1"/>
            <a:endCxn id="3" idx="1"/>
          </p:cNvCxnSpPr>
          <p:nvPr/>
        </p:nvCxnSpPr>
        <p:spPr>
          <a:xfrm rot="10800000" flipH="1">
            <a:off x="323779" y="5373424"/>
            <a:ext cx="2261" cy="912033"/>
          </a:xfrm>
          <a:prstGeom prst="bentConnector3">
            <a:avLst>
              <a:gd name="adj1" fmla="val -10110571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04043CF-C35E-2785-F08D-B2123164CB9D}"/>
              </a:ext>
            </a:extLst>
          </p:cNvPr>
          <p:cNvSpPr txBox="1"/>
          <p:nvPr/>
        </p:nvSpPr>
        <p:spPr>
          <a:xfrm>
            <a:off x="4158969" y="674988"/>
            <a:ext cx="1548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 영역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AE401ECA-75AA-7A27-262F-23BED8FC5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488693"/>
              </p:ext>
            </p:extLst>
          </p:nvPr>
        </p:nvGraphicFramePr>
        <p:xfrm>
          <a:off x="4158969" y="929789"/>
          <a:ext cx="5016729" cy="2306832"/>
        </p:xfrm>
        <a:graphic>
          <a:graphicData uri="http://schemas.openxmlformats.org/drawingml/2006/table">
            <a:tbl>
              <a:tblPr/>
              <a:tblGrid>
                <a:gridCol w="1122510">
                  <a:extLst>
                    <a:ext uri="{9D8B030D-6E8A-4147-A177-3AD203B41FA5}">
                      <a16:colId xmlns:a16="http://schemas.microsoft.com/office/drawing/2014/main" val="3803414692"/>
                    </a:ext>
                  </a:extLst>
                </a:gridCol>
                <a:gridCol w="3894219">
                  <a:extLst>
                    <a:ext uri="{9D8B030D-6E8A-4147-A177-3AD203B41FA5}">
                      <a16:colId xmlns:a16="http://schemas.microsoft.com/office/drawing/2014/main" val="338176086"/>
                    </a:ext>
                  </a:extLst>
                </a:gridCol>
              </a:tblGrid>
              <a:tr h="3467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</a:rPr>
                        <a:t>텍스트 전송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입력 후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Enter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보내기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전송한다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전송하면 입력창이 비워진다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전송에는 로그인이 필요하며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미로그인 시 입력창이 잠긴다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93192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이모티콘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이모지 제작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크리에이터 이미지 후원 활용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뒤에 글자를 입력하면 스티커 후보 팝업이 뜬다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↑↓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이동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Enter/Tab/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클릭으로 선택해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코드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 삽입한다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7711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멘션 자동완성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뒤에 글자를 입력하면 참여자 닉 후보가 뜨고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닉 이 삽입된다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72278"/>
                  </a:ext>
                </a:extLst>
              </a:tr>
              <a:tr h="3467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800" b="1" dirty="0">
                          <a:solidFill>
                            <a:srgbClr val="141A26"/>
                          </a:solidFill>
                          <a:effectLst/>
                          <a:latin typeface="+mn-ea"/>
                          <a:ea typeface="+mn-ea"/>
                        </a:rPr>
                        <a:t>전송 차단 안내</a:t>
                      </a:r>
                    </a:p>
                  </a:txBody>
                  <a:tcPr marL="42840" marR="42840" marT="33660" marB="336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얼리기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저속모드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등으로 전송이 막히면 입력 창 하단에 사유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남은 시간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 안내되고 입력이 잠긴다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840" marR="42840" marT="33660" marB="3366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90871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7F6CC07B-97AC-1379-2126-B86FC95AB8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2305" y="5292183"/>
            <a:ext cx="2895851" cy="1074513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143C9DAF-C3AD-A4E9-1D8A-FFDED532C9D5}"/>
              </a:ext>
            </a:extLst>
          </p:cNvPr>
          <p:cNvSpPr/>
          <p:nvPr/>
        </p:nvSpPr>
        <p:spPr>
          <a:xfrm>
            <a:off x="710714" y="6143592"/>
            <a:ext cx="352791" cy="283728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324FFF75-572D-71F9-B755-CA6775D00E1E}"/>
              </a:ext>
            </a:extLst>
          </p:cNvPr>
          <p:cNvCxnSpPr>
            <a:cxnSpLocks/>
            <a:stCxn id="40" idx="3"/>
            <a:endCxn id="24" idx="1"/>
          </p:cNvCxnSpPr>
          <p:nvPr/>
        </p:nvCxnSpPr>
        <p:spPr>
          <a:xfrm flipV="1">
            <a:off x="1063505" y="5829440"/>
            <a:ext cx="3088800" cy="456016"/>
          </a:xfrm>
          <a:prstGeom prst="bentConnector3">
            <a:avLst>
              <a:gd name="adj1" fmla="val 50000"/>
            </a:avLst>
          </a:prstGeom>
          <a:ln w="3175">
            <a:solidFill>
              <a:schemeClr val="accent6"/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그림 65">
            <a:extLst>
              <a:ext uri="{FF2B5EF4-FFF2-40B4-BE49-F238E27FC236}">
                <a16:creationId xmlns:a16="http://schemas.microsoft.com/office/drawing/2014/main" id="{02C64246-6B70-3AD3-9CE1-63460D9024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3932" y="2880049"/>
            <a:ext cx="2926334" cy="3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73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14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01CE1C-B34E-78FE-DF5F-D8DC971E1285}"/>
              </a:ext>
            </a:extLst>
          </p:cNvPr>
          <p:cNvSpPr/>
          <p:nvPr/>
        </p:nvSpPr>
        <p:spPr>
          <a:xfrm>
            <a:off x="272980" y="709823"/>
            <a:ext cx="3626776" cy="5796644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059B5DC-9AC4-AF47-3E42-F73C6F94C05A}"/>
              </a:ext>
            </a:extLst>
          </p:cNvPr>
          <p:cNvSpPr/>
          <p:nvPr/>
        </p:nvSpPr>
        <p:spPr>
          <a:xfrm>
            <a:off x="281772" y="1088740"/>
            <a:ext cx="3617984" cy="432048"/>
          </a:xfrm>
          <a:prstGeom prst="rect">
            <a:avLst/>
          </a:prstGeom>
          <a:solidFill>
            <a:srgbClr val="EEF0F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E9436D70-DADF-15CA-27EC-2E1A49705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03" y="1208899"/>
            <a:ext cx="182896" cy="182896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6D84881B-448D-3438-78C3-455E487D5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35" y="1216520"/>
            <a:ext cx="358171" cy="17527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25B36FE-A63F-1D61-5006-47C1438747DF}"/>
              </a:ext>
            </a:extLst>
          </p:cNvPr>
          <p:cNvSpPr txBox="1"/>
          <p:nvPr/>
        </p:nvSpPr>
        <p:spPr>
          <a:xfrm>
            <a:off x="533649" y="119332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채팅 매너 지켜주세요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투표 참여 부탁드려요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E869D33-C73C-044C-842C-86DEF0311FB3}"/>
              </a:ext>
            </a:extLst>
          </p:cNvPr>
          <p:cNvSpPr/>
          <p:nvPr/>
        </p:nvSpPr>
        <p:spPr>
          <a:xfrm>
            <a:off x="335627" y="1625373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VIP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2FE544-94D0-46C0-C208-594CF4288C62}"/>
              </a:ext>
            </a:extLst>
          </p:cNvPr>
          <p:cNvSpPr txBox="1"/>
          <p:nvPr/>
        </p:nvSpPr>
        <p:spPr>
          <a:xfrm>
            <a:off x="676571" y="1598869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432046B-4648-9434-1BDC-9D7F64FCEE5D}"/>
              </a:ext>
            </a:extLst>
          </p:cNvPr>
          <p:cNvSpPr/>
          <p:nvPr/>
        </p:nvSpPr>
        <p:spPr>
          <a:xfrm>
            <a:off x="335627" y="1906876"/>
            <a:ext cx="396044" cy="180020"/>
          </a:xfrm>
          <a:prstGeom prst="roundRect">
            <a:avLst>
              <a:gd name="adj" fmla="val 37599"/>
            </a:avLst>
          </a:prstGeom>
          <a:solidFill>
            <a:sysClr val="windowText" lastClr="000000">
              <a:lumMod val="65000"/>
              <a:lumOff val="3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FR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64D58B-F05B-D598-1CC7-BDAA105EA2A6}"/>
              </a:ext>
            </a:extLst>
          </p:cNvPr>
          <p:cNvSpPr txBox="1"/>
          <p:nvPr/>
        </p:nvSpPr>
        <p:spPr>
          <a:xfrm>
            <a:off x="676571" y="1880372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61" name="Picture 2" descr="대박">
            <a:extLst>
              <a:ext uri="{FF2B5EF4-FFF2-40B4-BE49-F238E27FC236}">
                <a16:creationId xmlns:a16="http://schemas.microsoft.com/office/drawing/2014/main" id="{0B5B837E-94C9-2217-325E-C30266F03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1836087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4C81F50-DBD7-F0E8-C90A-7D1EA3B75085}"/>
              </a:ext>
            </a:extLst>
          </p:cNvPr>
          <p:cNvSpPr/>
          <p:nvPr/>
        </p:nvSpPr>
        <p:spPr>
          <a:xfrm>
            <a:off x="335627" y="2188379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FFFF00">
              <a:lumMod val="20000"/>
              <a:lumOff val="80000"/>
            </a:srgbClr>
          </a:solidFill>
          <a:ln w="12700" cap="flat" cmpd="sng" algn="ctr">
            <a:solidFill>
              <a:srgbClr val="FF8021">
                <a:lumMod val="75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SVIP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3C82C7-1CE2-5BB2-FBB4-9DC8B179EFEE}"/>
              </a:ext>
            </a:extLst>
          </p:cNvPr>
          <p:cNvSpPr txBox="1"/>
          <p:nvPr/>
        </p:nvSpPr>
        <p:spPr>
          <a:xfrm>
            <a:off x="676571" y="2161875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8021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rgbClr val="FF8021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rgbClr val="FF8021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오늘도 화이팅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C620EA2-7010-E4D7-4AA9-0914E0972D90}"/>
              </a:ext>
            </a:extLst>
          </p:cNvPr>
          <p:cNvSpPr/>
          <p:nvPr/>
        </p:nvSpPr>
        <p:spPr>
          <a:xfrm>
            <a:off x="334515" y="2456892"/>
            <a:ext cx="3489783" cy="617595"/>
          </a:xfrm>
          <a:prstGeom prst="roundRect">
            <a:avLst/>
          </a:prstGeom>
          <a:solidFill>
            <a:srgbClr val="5DCEAF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7605A20-172D-EA2E-C540-D888EB957310}"/>
              </a:ext>
            </a:extLst>
          </p:cNvPr>
          <p:cNvSpPr/>
          <p:nvPr/>
        </p:nvSpPr>
        <p:spPr>
          <a:xfrm>
            <a:off x="390727" y="2540535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FFFF00">
              <a:lumMod val="20000"/>
              <a:lumOff val="80000"/>
            </a:srgbClr>
          </a:solidFill>
          <a:ln w="12700" cap="flat" cmpd="sng" algn="ctr">
            <a:solidFill>
              <a:srgbClr val="FF8021">
                <a:lumMod val="75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SVIP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C34109-7D8F-7926-4D6F-96FBFA1F9BF9}"/>
              </a:ext>
            </a:extLst>
          </p:cNvPr>
          <p:cNvSpPr txBox="1"/>
          <p:nvPr/>
        </p:nvSpPr>
        <p:spPr>
          <a:xfrm>
            <a:off x="731671" y="251403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8021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srgbClr val="FF8021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srgbClr val="FF8021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DF2ED6-8061-D549-C0D6-4BA4665F1C36}"/>
              </a:ext>
            </a:extLst>
          </p:cNvPr>
          <p:cNvSpPr txBox="1"/>
          <p:nvPr/>
        </p:nvSpPr>
        <p:spPr>
          <a:xfrm>
            <a:off x="402581" y="277991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259715-9E2E-1A81-37ED-976A03CEBF09}"/>
              </a:ext>
            </a:extLst>
          </p:cNvPr>
          <p:cNvSpPr txBox="1"/>
          <p:nvPr/>
        </p:nvSpPr>
        <p:spPr>
          <a:xfrm>
            <a:off x="3058036" y="2649217"/>
            <a:ext cx="7885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1,000 </a:t>
            </a:r>
            <a:r>
              <a:rPr lang="ko-KR" altLang="en-US" sz="9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E5B4CA2-C852-BA79-40E5-C97ADD46480D}"/>
              </a:ext>
            </a:extLst>
          </p:cNvPr>
          <p:cNvSpPr/>
          <p:nvPr/>
        </p:nvSpPr>
        <p:spPr>
          <a:xfrm>
            <a:off x="335627" y="316450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VIP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2A8933D3-B24A-25CC-86E4-2E4A5CA4E125}"/>
              </a:ext>
            </a:extLst>
          </p:cNvPr>
          <p:cNvSpPr/>
          <p:nvPr/>
        </p:nvSpPr>
        <p:spPr>
          <a:xfrm>
            <a:off x="335627" y="3446005"/>
            <a:ext cx="396044" cy="180020"/>
          </a:xfrm>
          <a:prstGeom prst="roundRect">
            <a:avLst>
              <a:gd name="adj" fmla="val 37599"/>
            </a:avLst>
          </a:prstGeom>
          <a:solidFill>
            <a:sysClr val="windowText" lastClr="000000">
              <a:lumMod val="65000"/>
              <a:lumOff val="3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FR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054A8F-7AE0-6932-3300-8583035F1118}"/>
              </a:ext>
            </a:extLst>
          </p:cNvPr>
          <p:cNvSpPr txBox="1"/>
          <p:nvPr/>
        </p:nvSpPr>
        <p:spPr>
          <a:xfrm>
            <a:off x="676571" y="341950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72" name="Picture 2" descr="대박">
            <a:extLst>
              <a:ext uri="{FF2B5EF4-FFF2-40B4-BE49-F238E27FC236}">
                <a16:creationId xmlns:a16="http://schemas.microsoft.com/office/drawing/2014/main" id="{489099C8-6AAD-58DA-5E22-29BB76309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337521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48ACB66-CC1A-ED72-5067-326E67DA9B4B}"/>
              </a:ext>
            </a:extLst>
          </p:cNvPr>
          <p:cNvSpPr/>
          <p:nvPr/>
        </p:nvSpPr>
        <p:spPr>
          <a:xfrm>
            <a:off x="335627" y="371622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VIP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7A10E56-695F-B717-AA3C-FC9C8BF3991E}"/>
              </a:ext>
            </a:extLst>
          </p:cNvPr>
          <p:cNvSpPr txBox="1"/>
          <p:nvPr/>
        </p:nvSpPr>
        <p:spPr>
          <a:xfrm>
            <a:off x="676571" y="368971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82C9CB69-7EB5-313A-28E1-51116D2DA649}"/>
              </a:ext>
            </a:extLst>
          </p:cNvPr>
          <p:cNvSpPr/>
          <p:nvPr/>
        </p:nvSpPr>
        <p:spPr>
          <a:xfrm>
            <a:off x="335627" y="4265292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VIP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23CE03-642F-8603-04F0-40798EE6CCFD}"/>
              </a:ext>
            </a:extLst>
          </p:cNvPr>
          <p:cNvSpPr txBox="1"/>
          <p:nvPr/>
        </p:nvSpPr>
        <p:spPr>
          <a:xfrm>
            <a:off x="676571" y="4238788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765DEA4B-E5B8-041E-71B2-F37BD27FB609}"/>
              </a:ext>
            </a:extLst>
          </p:cNvPr>
          <p:cNvSpPr/>
          <p:nvPr/>
        </p:nvSpPr>
        <p:spPr>
          <a:xfrm>
            <a:off x="335627" y="4546795"/>
            <a:ext cx="396044" cy="180020"/>
          </a:xfrm>
          <a:prstGeom prst="roundRect">
            <a:avLst>
              <a:gd name="adj" fmla="val 37599"/>
            </a:avLst>
          </a:prstGeom>
          <a:solidFill>
            <a:sysClr val="windowText" lastClr="000000">
              <a:lumMod val="65000"/>
              <a:lumOff val="3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FR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0BDEB09-CA3F-5290-662C-F4CEE657208E}"/>
              </a:ext>
            </a:extLst>
          </p:cNvPr>
          <p:cNvSpPr txBox="1"/>
          <p:nvPr/>
        </p:nvSpPr>
        <p:spPr>
          <a:xfrm>
            <a:off x="676571" y="452029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방송 잘 보고 있어요</a:t>
            </a:r>
          </a:p>
        </p:txBody>
      </p:sp>
      <p:pic>
        <p:nvPicPr>
          <p:cNvPr id="79" name="Picture 2" descr="대박">
            <a:extLst>
              <a:ext uri="{FF2B5EF4-FFF2-40B4-BE49-F238E27FC236}">
                <a16:creationId xmlns:a16="http://schemas.microsoft.com/office/drawing/2014/main" id="{0004147D-0A86-D07C-765D-FC1CF333C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17" y="4476006"/>
            <a:ext cx="268845" cy="26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09372A1-A3C0-5D13-A014-EDA83CC83375}"/>
              </a:ext>
            </a:extLst>
          </p:cNvPr>
          <p:cNvSpPr/>
          <p:nvPr/>
        </p:nvSpPr>
        <p:spPr>
          <a:xfrm>
            <a:off x="335627" y="481701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51DBE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VIP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EDCB9A-972E-A5FC-6589-BD1F0517955A}"/>
              </a:ext>
            </a:extLst>
          </p:cNvPr>
          <p:cNvSpPr txBox="1"/>
          <p:nvPr/>
        </p:nvSpPr>
        <p:spPr>
          <a:xfrm>
            <a:off x="676571" y="479050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F1FDDD62-C2E4-BA8C-49FD-CF30D14B24AC}"/>
              </a:ext>
            </a:extLst>
          </p:cNvPr>
          <p:cNvSpPr/>
          <p:nvPr/>
        </p:nvSpPr>
        <p:spPr>
          <a:xfrm>
            <a:off x="334515" y="5050158"/>
            <a:ext cx="3489783" cy="617595"/>
          </a:xfrm>
          <a:prstGeom prst="roundRect">
            <a:avLst/>
          </a:prstGeom>
          <a:solidFill>
            <a:srgbClr val="CC7A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26581AE7-EAD3-E53B-7C3D-72AEC2A16DB7}"/>
              </a:ext>
            </a:extLst>
          </p:cNvPr>
          <p:cNvSpPr/>
          <p:nvPr/>
        </p:nvSpPr>
        <p:spPr>
          <a:xfrm>
            <a:off x="390727" y="5133801"/>
            <a:ext cx="396044" cy="180020"/>
          </a:xfrm>
          <a:prstGeom prst="roundRect">
            <a:avLst>
              <a:gd name="adj" fmla="val 37599"/>
            </a:avLst>
          </a:prstGeom>
          <a:solidFill>
            <a:srgbClr val="FFFF00">
              <a:lumMod val="20000"/>
              <a:lumOff val="80000"/>
            </a:srgbClr>
          </a:solidFill>
          <a:ln w="12700" cap="flat" cmpd="sng" algn="ctr">
            <a:solidFill>
              <a:srgbClr val="FF8021">
                <a:lumMod val="75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SVIP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15A73E-4944-314A-40C0-451FEFEDEED7}"/>
              </a:ext>
            </a:extLst>
          </p:cNvPr>
          <p:cNvSpPr txBox="1"/>
          <p:nvPr/>
        </p:nvSpPr>
        <p:spPr>
          <a:xfrm>
            <a:off x="731671" y="510729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열혈팬</a:t>
            </a:r>
            <a:r>
              <a:rPr lang="en-US" altLang="ko-KR" sz="800" b="1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b="1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ko-KR" altLang="en-US" sz="8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ADC63F-1A23-2EA1-6A7E-38219FD157ED}"/>
              </a:ext>
            </a:extLst>
          </p:cNvPr>
          <p:cNvSpPr txBox="1"/>
          <p:nvPr/>
        </p:nvSpPr>
        <p:spPr>
          <a:xfrm>
            <a:off x="402581" y="53731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텍스트후원</a:t>
            </a:r>
            <a:r>
              <a:rPr lang="ko-KR" altLang="en-US" sz="8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오늘 방송 미쳤다 후원 받아라</a:t>
            </a:r>
            <a:r>
              <a:rPr lang="en-US" altLang="ko-KR" sz="8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endParaRPr lang="ko-KR" altLang="en-US" sz="8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00CF0B4-EA85-A8D7-1979-6DC57D741DCB}"/>
              </a:ext>
            </a:extLst>
          </p:cNvPr>
          <p:cNvSpPr txBox="1"/>
          <p:nvPr/>
        </p:nvSpPr>
        <p:spPr>
          <a:xfrm>
            <a:off x="2891644" y="5242483"/>
            <a:ext cx="954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100,000 </a:t>
            </a:r>
            <a:r>
              <a:rPr lang="ko-KR" altLang="en-US" sz="900" b="1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캐시</a:t>
            </a:r>
            <a:endParaRPr lang="ko-KR" altLang="en-US" sz="9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7A41356F-C5BA-E5BD-9FDE-E3A7D9006E2F}"/>
              </a:ext>
            </a:extLst>
          </p:cNvPr>
          <p:cNvSpPr/>
          <p:nvPr/>
        </p:nvSpPr>
        <p:spPr>
          <a:xfrm>
            <a:off x="334515" y="5711960"/>
            <a:ext cx="3489782" cy="35227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A34BD64B-3D12-8E57-19B7-5AE5730EE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119" y="5784776"/>
            <a:ext cx="198137" cy="19813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44FFBE2A-5516-4B89-97C7-DCFD754C1056}"/>
              </a:ext>
            </a:extLst>
          </p:cNvPr>
          <p:cNvSpPr txBox="1"/>
          <p:nvPr/>
        </p:nvSpPr>
        <p:spPr>
          <a:xfrm>
            <a:off x="441006" y="5768777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11A4BC14-7C24-05BE-0B94-E90BE7076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88" y="6187832"/>
            <a:ext cx="289585" cy="266723"/>
          </a:xfrm>
          <a:prstGeom prst="rect">
            <a:avLst/>
          </a:prstGeom>
        </p:spPr>
      </p:pic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1E76CF4B-C2DB-808C-D6DA-3D2B380C009A}"/>
              </a:ext>
            </a:extLst>
          </p:cNvPr>
          <p:cNvSpPr/>
          <p:nvPr/>
        </p:nvSpPr>
        <p:spPr>
          <a:xfrm>
            <a:off x="658987" y="6161176"/>
            <a:ext cx="2668796" cy="300757"/>
          </a:xfrm>
          <a:prstGeom prst="roundRect">
            <a:avLst>
              <a:gd name="adj" fmla="val 34427"/>
            </a:avLst>
          </a:prstGeom>
          <a:solidFill>
            <a:srgbClr val="E9ED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mbria" panose="02040503050406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mbria" panose="02040503050406030204"/>
                <a:ea typeface="맑은 고딕" panose="020B0503020000020004" pitchFamily="50" charset="-127"/>
                <a:cs typeface="+mn-cs"/>
              </a:rPr>
              <a:t>채팅 입력</a:t>
            </a:r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BAAFB6F5-26F3-FD83-8F4D-C723876607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367" y="6178181"/>
            <a:ext cx="487722" cy="26672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0AD227D1-F808-0FEB-6CB1-660E6BAC6192}"/>
              </a:ext>
            </a:extLst>
          </p:cNvPr>
          <p:cNvSpPr txBox="1"/>
          <p:nvPr/>
        </p:nvSpPr>
        <p:spPr>
          <a:xfrm>
            <a:off x="676571" y="3139271"/>
            <a:ext cx="2640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4D1D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단골도네</a:t>
            </a:r>
            <a:r>
              <a:rPr lang="ko-KR" altLang="en-US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다음 방송 언제예요</a:t>
            </a:r>
            <a:r>
              <a:rPr lang="en-US" altLang="ko-KR" sz="8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8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1F25C843-38D4-A3B9-5184-11E05A51C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804" y="3931268"/>
            <a:ext cx="2789162" cy="236240"/>
          </a:xfrm>
          <a:prstGeom prst="rect">
            <a:avLst/>
          </a:prstGeom>
        </p:spPr>
      </p:pic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B5B9B524-A442-81E8-BDBF-1235449891FD}"/>
              </a:ext>
            </a:extLst>
          </p:cNvPr>
          <p:cNvSpPr/>
          <p:nvPr/>
        </p:nvSpPr>
        <p:spPr>
          <a:xfrm>
            <a:off x="2214675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●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트위치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999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9A824D84-1C10-3748-2A88-603956B1850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09917" y="812552"/>
            <a:ext cx="148624" cy="148624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588D5E9E-7C73-7073-585B-0FD9BB543C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4392" y="796618"/>
            <a:ext cx="189024" cy="189024"/>
          </a:xfrm>
          <a:prstGeom prst="rect">
            <a:avLst/>
          </a:prstGeom>
        </p:spPr>
      </p:pic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5A0492D8-8DB2-BF23-B14F-5B1CC0691C3F}"/>
              </a:ext>
            </a:extLst>
          </p:cNvPr>
          <p:cNvSpPr/>
          <p:nvPr/>
        </p:nvSpPr>
        <p:spPr>
          <a:xfrm>
            <a:off x="1278021" y="760850"/>
            <a:ext cx="867372" cy="252028"/>
          </a:xfrm>
          <a:prstGeom prst="roundRect">
            <a:avLst>
              <a:gd name="adj" fmla="val 50000"/>
            </a:avLst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●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유튜브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999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DAA73527-1D90-7355-0AFD-1B9CD0F8B110}"/>
              </a:ext>
            </a:extLst>
          </p:cNvPr>
          <p:cNvSpPr/>
          <p:nvPr/>
        </p:nvSpPr>
        <p:spPr>
          <a:xfrm>
            <a:off x="323780" y="760850"/>
            <a:ext cx="867372" cy="252028"/>
          </a:xfrm>
          <a:prstGeom prst="roundRect">
            <a:avLst>
              <a:gd name="adj" fmla="val 50000"/>
            </a:avLst>
          </a:prstGeom>
          <a:solidFill>
            <a:srgbClr val="4655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●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 투네이션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999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735160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FF3300"/>
          </a:solidFill>
          <a:prstDash val="dash"/>
          <a:miter lim="800000"/>
          <a:headEnd/>
          <a:tailEnd/>
        </a:ln>
      </a:spPr>
      <a:bodyPr wrap="none" anchor="ctr"/>
      <a:lstStyle>
        <a:defPPr algn="ctr">
          <a:defRPr>
            <a:solidFill>
              <a:srgbClr val="808080"/>
            </a:solidFill>
          </a:defRPr>
        </a:defPPr>
      </a:lstStyle>
    </a:spDef>
    <a:lnDef>
      <a:spPr bwMode="auto">
        <a:noFill/>
        <a:ln w="19050" algn="ctr">
          <a:solidFill>
            <a:srgbClr val="4678B4"/>
          </a:solidFill>
          <a:round/>
          <a:headEnd/>
          <a:tailEnd type="none" w="med" len="med"/>
        </a:ln>
      </a:spPr>
      <a:bodyPr/>
      <a:lstStyle/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accent6"/>
          </a:solidFill>
          <a:prstDash val="dash"/>
          <a:headEnd type="oval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311084-F6F7-4697-9CAD-01112F6FC814}">
  <we:reference id="wa104381063" version="1.0.0.1" store="ko-KR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920798</TotalTime>
  <Words>2342</Words>
  <Application>Microsoft Office PowerPoint</Application>
  <PresentationFormat>와이드스크린</PresentationFormat>
  <Paragraphs>584</Paragraphs>
  <Slides>17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17</vt:i4>
      </vt:variant>
    </vt:vector>
  </HeadingPairs>
  <TitlesOfParts>
    <vt:vector size="32" baseType="lpstr">
      <vt:lpstr>Noto Sans CJK KR Black</vt:lpstr>
      <vt:lpstr>Noto Sans CJK KR Bold</vt:lpstr>
      <vt:lpstr>Noto Sans CJK KR Medium</vt:lpstr>
      <vt:lpstr>Noto Sans CJK KR Regular</vt:lpstr>
      <vt:lpstr>굴림</vt:lpstr>
      <vt:lpstr>나눔고딕</vt:lpstr>
      <vt:lpstr>돋움</vt:lpstr>
      <vt:lpstr>맑은 고딕</vt:lpstr>
      <vt:lpstr>Arial</vt:lpstr>
      <vt:lpstr>Cambria</vt:lpstr>
      <vt:lpstr>Montserrat ExtraBold</vt:lpstr>
      <vt:lpstr>Wingdings</vt:lpstr>
      <vt:lpstr>1_기본 디자인</vt:lpstr>
      <vt:lpstr>1_디자인 사용자 지정</vt:lpstr>
      <vt:lpstr>4_디자인 사용자 지정</vt:lpstr>
      <vt:lpstr>투네이션 채팅 상세기획서</vt:lpstr>
      <vt:lpstr>PowerPoint 프레젠테이션</vt:lpstr>
      <vt:lpstr>PowerPoint 프레젠테이션</vt:lpstr>
      <vt:lpstr>PowerPoint 프레젠테이션</vt:lpstr>
      <vt:lpstr>화면 영역</vt:lpstr>
      <vt:lpstr>채널 영역</vt:lpstr>
      <vt:lpstr>채널 영역</vt:lpstr>
      <vt:lpstr>채널 영역</vt:lpstr>
      <vt:lpstr>채널 영역</vt:lpstr>
      <vt:lpstr>채팅 뷰어 영역</vt:lpstr>
      <vt:lpstr>채팅 뷰어 영역</vt:lpstr>
      <vt:lpstr>채팅 뷰어 영역</vt:lpstr>
      <vt:lpstr>채팅 뷰어 영역</vt:lpstr>
      <vt:lpstr>채팅 뷰어 영역</vt:lpstr>
      <vt:lpstr>채팅 입력 영역</vt:lpstr>
      <vt:lpstr>PowerPoint 프레젠테이션</vt:lpstr>
      <vt:lpstr>PowerPoint 프레젠테이션</vt:lpstr>
    </vt:vector>
  </TitlesOfParts>
  <Company>ACG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권준호</dc:creator>
  <cp:lastModifiedBy>투네이션 주식회사</cp:lastModifiedBy>
  <cp:revision>12564</cp:revision>
  <cp:lastPrinted>2020-03-20T06:02:53Z</cp:lastPrinted>
  <dcterms:created xsi:type="dcterms:W3CDTF">2007-03-12T23:55:15Z</dcterms:created>
  <dcterms:modified xsi:type="dcterms:W3CDTF">2026-09-30T07:20:51Z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eyAibm9kZUNvdW50IjogMTUsICJub2RlMSIgOiB7ImRzZCI6IjAxMDAwMDAwMDAwMDE1NzIiLCJsb2dUaW1lIjoiMjAyMC0wNC0wOFQwNzozMjo0MFoiLCJwSUQiOjEsInRyYWNlSWQiOiJERTcyRjM0RkU2QkE0NjVCOTg4QjU4RTVGQUI2RENBNyIsInVzZXJDb2RlIjoiZG10YWUifSwibm9kZTIiIDogeyJkc2QiOiIwMTAwMDAwMDAwMDA</vt:lpwstr>
  </property>
</Properties>
</file>