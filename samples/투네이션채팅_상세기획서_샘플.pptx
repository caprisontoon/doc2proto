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46304" y="137160"/>
          <a:ext cx="11887200" cy="30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071360"/>
                <a:gridCol w="1097280"/>
                <a:gridCol w="2255520"/>
              </a:tblGrid>
              <a:tr h="308610">
                <a:tc>
                  <a:txBody>
                    <a:bodyPr/>
                    <a:lstStyle/>
                    <a:p>
                      <a:r>
                        <a:rPr sz="1000"/>
                        <a:t>Page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화면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투네이션 채팅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46304" y="548640"/>
            <a:ext cx="2438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1B1D22"/>
                </a:solidFill>
              </a:rPr>
              <a:t>화면 영역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548640"/>
            <a:ext cx="243840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 b="1">
                <a:solidFill>
                  <a:srgbClr val="FFFFFF"/>
                </a:solidFill>
              </a:rPr>
              <a:t>Description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3840" y="960120"/>
            <a:ext cx="3657600" cy="5486400"/>
            <a:chOff x="243840" y="960120"/>
            <a:chExt cx="3657600" cy="5486400"/>
          </a:xfrm>
        </p:grpSpPr>
        <p:sp>
          <p:nvSpPr>
            <p:cNvPr id="6" name="Rectangle 5"/>
            <p:cNvSpPr/>
            <p:nvPr/>
          </p:nvSpPr>
          <p:spPr>
            <a:xfrm>
              <a:off x="243840" y="960120"/>
              <a:ext cx="3657600" cy="5486400"/>
            </a:xfrm>
            <a:prstGeom prst="rect">
              <a:avLst/>
            </a:prstGeom>
            <a:solidFill>
              <a:srgbClr val="F4F5F8"/>
            </a:solidFill>
            <a:ln>
              <a:solidFill>
                <a:srgbClr val="DD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Rounded Rectangle 6"/>
            <p:cNvSpPr/>
            <p:nvPr/>
          </p:nvSpPr>
          <p:spPr>
            <a:xfrm>
              <a:off x="365760" y="1062990"/>
              <a:ext cx="975360" cy="308610"/>
            </a:xfrm>
            <a:prstGeom prst="roundRect">
              <a:avLst/>
            </a:prstGeom>
            <a:solidFill>
              <a:srgbClr val="4A55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FFFFFF"/>
                  </a:solidFill>
                </a:rPr>
                <a:t>● 투네이션 999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402080" y="1062990"/>
              <a:ext cx="853440" cy="308610"/>
            </a:xfrm>
            <a:prstGeom prst="roundRect">
              <a:avLst/>
            </a:prstGeom>
            <a:noFill/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유튜브 999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16480" y="1062990"/>
              <a:ext cx="853440" cy="308610"/>
            </a:xfrm>
            <a:prstGeom prst="roundRect">
              <a:avLst/>
            </a:prstGeom>
            <a:noFill/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트위치 999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74720" y="1062990"/>
              <a:ext cx="304800" cy="30861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400" b="1">
                  <a:solidFill>
                    <a:srgbClr val="1B1D22"/>
                  </a:solidFill>
                </a:rPr>
                <a:t>⋮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5760" y="1474470"/>
              <a:ext cx="3413760" cy="308610"/>
            </a:xfrm>
            <a:prstGeom prst="rect">
              <a:avLst/>
            </a:prstGeom>
            <a:solidFill>
              <a:srgbClr val="ECEEF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📢 공지  채팅 매너 지켜주세요. 투표 참여 부탁드려요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26720" y="1885950"/>
              <a:ext cx="487680" cy="219456"/>
            </a:xfrm>
            <a:prstGeom prst="roundRect">
              <a:avLst/>
            </a:prstGeom>
            <a:solidFill>
              <a:srgbClr val="5AC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VIP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75360" y="1885950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단골도네 다음 방송 언제예요?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26720" y="2173986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FR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75360" y="2173986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 방송 잘 보고 있어요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6720" y="2462022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SVIP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" y="2462022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열혈팬1호 오늘도 화이팅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6720" y="2750058"/>
              <a:ext cx="3291840" cy="548640"/>
            </a:xfrm>
            <a:prstGeom prst="rect">
              <a:avLst/>
            </a:prstGeom>
            <a:solidFill>
              <a:srgbClr val="B8B8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SVIP 열혈팬1호                           1,000 캐시</a:t>
              </a:r>
            </a:p>
            <a:p>
              <a:r>
                <a:rPr sz="800" b="0">
                  <a:solidFill>
                    <a:srgbClr val="1B1D22"/>
                  </a:solidFill>
                </a:rPr>
                <a:t>텍스트후원 오늘 방송 미쳤다 후원 받아라~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26720" y="3380994"/>
              <a:ext cx="487680" cy="219456"/>
            </a:xfrm>
            <a:prstGeom prst="roundRect">
              <a:avLst/>
            </a:prstGeom>
            <a:solidFill>
              <a:srgbClr val="5AC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VIP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75360" y="3380994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단골도네 다음 방송 언제예요?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6720" y="3669030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FR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75360" y="3669030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 방송 잘 보고 있어요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26720" y="3957066"/>
              <a:ext cx="487680" cy="219456"/>
            </a:xfrm>
            <a:prstGeom prst="roundRect">
              <a:avLst/>
            </a:prstGeom>
            <a:solidFill>
              <a:srgbClr val="5AC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VIP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75360" y="3957066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단골도네 다음 방송 언제예요?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26720" y="4245102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FR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75360" y="4245102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 방송 잘 보고 있어요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26720" y="5829300"/>
              <a:ext cx="2682240" cy="377190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😊  채팅 입력</a:t>
              </a:r>
            </a:p>
          </p:txBody>
        </p:sp>
        <p:sp>
          <p:nvSpPr>
            <p:cNvPr id="28" name="Rounded Rectangle 27">
              <a:hlinkClick action="ppaction://hlinksldjump" r:id="rId2"/>
            </p:cNvPr>
            <p:cNvSpPr/>
            <p:nvPr/>
          </p:nvSpPr>
          <p:spPr>
            <a:xfrm>
              <a:off x="3169920" y="5829300"/>
              <a:ext cx="609600" cy="377190"/>
            </a:xfrm>
            <a:prstGeom prst="roundRect">
              <a:avLst/>
            </a:prstGeom>
            <a:solidFill>
              <a:srgbClr val="4A55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1">
                  <a:solidFill>
                    <a:srgbClr val="FFFFFF"/>
                  </a:solidFill>
                </a:rPr>
                <a:t>보내기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195072" y="994410"/>
            <a:ext cx="3779520" cy="445770"/>
          </a:xfrm>
          <a:prstGeom prst="rect">
            <a:avLst/>
          </a:prstGeom>
          <a:noFill/>
          <a:ln w="15875">
            <a:solidFill>
              <a:srgbClr val="E01E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5072" y="1440180"/>
            <a:ext cx="3779520" cy="4286250"/>
          </a:xfrm>
          <a:prstGeom prst="rect">
            <a:avLst/>
          </a:prstGeom>
          <a:noFill/>
          <a:ln w="15875">
            <a:solidFill>
              <a:srgbClr val="E01E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5072" y="5760720"/>
            <a:ext cx="3779520" cy="548640"/>
          </a:xfrm>
          <a:prstGeom prst="rect">
            <a:avLst/>
          </a:prstGeom>
          <a:noFill/>
          <a:ln w="15875">
            <a:solidFill>
              <a:srgbClr val="E01E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960120"/>
            <a:ext cx="1463040" cy="240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1B1D22"/>
                </a:solidFill>
              </a:rPr>
              <a:t>채널 영역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389120" y="1234440"/>
          <a:ext cx="4876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413760"/>
              </a:tblGrid>
              <a:tr h="274320">
                <a:tc>
                  <a:txBody>
                    <a:bodyPr/>
                    <a:lstStyle/>
                    <a:p>
                      <a:r>
                        <a:rPr sz="900"/>
                        <a:t>채널 탭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투네이션·유튜브·트위치 탭이 나열. 각 탭에는 현재 채팅 숫자 노출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채널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탭을 클릭하면 그 채널로 즉시 전환된다.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대화 이력 보존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다른 채널로 이동했다가 돌아오면, 이전 대화 이력이 그대로 유지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/>
                        <a:t>관리 메뉴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클린봇 설정, 채팅입력제한, 채팅 얼리기, 매니저 모드, 입장표시, 글자크기, 차단목록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4389120" y="2743200"/>
            <a:ext cx="1463040" cy="240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1B1D22"/>
                </a:solidFill>
              </a:rPr>
              <a:t>채팅 뷰어 영역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389120" y="3017520"/>
          <a:ext cx="48768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413760"/>
              </a:tblGrid>
              <a:tr h="297180">
                <a:tc>
                  <a:txBody>
                    <a:bodyPr/>
                    <a:lstStyle/>
                    <a:p>
                      <a:r>
                        <a:rPr sz="900"/>
                        <a:t>공지 (고정)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공지사항(매니저 모드) 등록/수정, 상단 고정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900"/>
                        <a:t>채팅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투네이션 VIP 등급 표시, 도네이터 명 클릭 시 프로필 및 차단/신고, 이모티콘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900"/>
                        <a:t>스크롤 시 최근 후원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스크롤 이동 시 최근 후원 노출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4389120" y="4526280"/>
            <a:ext cx="1463040" cy="240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1B1D22"/>
                </a:solidFill>
              </a:rPr>
              <a:t>채팅 입력 영역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389120" y="4800600"/>
          <a:ext cx="48768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413760"/>
              </a:tblGrid>
              <a:tr h="342900">
                <a:tc>
                  <a:txBody>
                    <a:bodyPr/>
                    <a:lstStyle/>
                    <a:p>
                      <a:r>
                        <a:rPr sz="900"/>
                        <a:t>이모티콘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채팅용 이모티콘 기본 제공. 😊 아이콘에 마우스를 올리면 "이모티콘 선택" 툴팁 노출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채팅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최대 120자 이내 채팅 입력. 보내기 클릭 시 전송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Connector 37"/>
          <p:cNvCxnSpPr>
            <a:stCxn id="29" idx="3"/>
            <a:endCxn id="33" idx="1"/>
          </p:cNvCxnSpPr>
          <p:nvPr/>
        </p:nvCxnSpPr>
        <p:spPr>
          <a:xfrm>
            <a:off x="3974592" y="1217295"/>
            <a:ext cx="414528" cy="565785"/>
          </a:xfrm>
          <a:prstGeom prst="line">
            <a:avLst/>
          </a:prstGeom>
          <a:ln w="12700">
            <a:solidFill>
              <a:srgbClr val="E01E1E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30" idx="3"/>
            <a:endCxn id="35" idx="1"/>
          </p:cNvCxnSpPr>
          <p:nvPr/>
        </p:nvCxnSpPr>
        <p:spPr>
          <a:xfrm flipV="1">
            <a:off x="3974592" y="3463290"/>
            <a:ext cx="414528" cy="120015"/>
          </a:xfrm>
          <a:prstGeom prst="line">
            <a:avLst/>
          </a:prstGeom>
          <a:ln w="12700">
            <a:solidFill>
              <a:srgbClr val="E01E1E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31" idx="3"/>
            <a:endCxn id="37" idx="1"/>
          </p:cNvCxnSpPr>
          <p:nvPr/>
        </p:nvCxnSpPr>
        <p:spPr>
          <a:xfrm flipV="1">
            <a:off x="3974592" y="5143500"/>
            <a:ext cx="414528" cy="891540"/>
          </a:xfrm>
          <a:prstGeom prst="line">
            <a:avLst/>
          </a:prstGeom>
          <a:ln w="12700">
            <a:solidFill>
              <a:srgbClr val="E01E1E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46304" y="137160"/>
          <a:ext cx="11887200" cy="30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071360"/>
                <a:gridCol w="1097280"/>
                <a:gridCol w="2255520"/>
              </a:tblGrid>
              <a:tr h="308610">
                <a:tc>
                  <a:txBody>
                    <a:bodyPr/>
                    <a:lstStyle/>
                    <a:p>
                      <a:r>
                        <a:rPr sz="1000"/>
                        <a:t>Page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채널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투네이션 채팅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46304" y="548640"/>
            <a:ext cx="2438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1B1D22"/>
                </a:solidFill>
              </a:rPr>
              <a:t>채널 영역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548640"/>
            <a:ext cx="243840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 b="1">
                <a:solidFill>
                  <a:srgbClr val="FFFFFF"/>
                </a:solidFill>
              </a:rPr>
              <a:t>Description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3840" y="960120"/>
            <a:ext cx="3657600" cy="5486400"/>
            <a:chOff x="243840" y="960120"/>
            <a:chExt cx="3657600" cy="5486400"/>
          </a:xfrm>
        </p:grpSpPr>
        <p:sp>
          <p:nvSpPr>
            <p:cNvPr id="6" name="Rectangle 5"/>
            <p:cNvSpPr/>
            <p:nvPr/>
          </p:nvSpPr>
          <p:spPr>
            <a:xfrm>
              <a:off x="243840" y="960120"/>
              <a:ext cx="3657600" cy="5486400"/>
            </a:xfrm>
            <a:prstGeom prst="rect">
              <a:avLst/>
            </a:prstGeom>
            <a:solidFill>
              <a:srgbClr val="F4F5F8"/>
            </a:solidFill>
            <a:ln>
              <a:solidFill>
                <a:srgbClr val="DD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Rounded Rectangle 6"/>
            <p:cNvSpPr/>
            <p:nvPr/>
          </p:nvSpPr>
          <p:spPr>
            <a:xfrm>
              <a:off x="365760" y="1062990"/>
              <a:ext cx="975360" cy="308610"/>
            </a:xfrm>
            <a:prstGeom prst="roundRect">
              <a:avLst/>
            </a:prstGeom>
            <a:solidFill>
              <a:srgbClr val="4A55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FFFFFF"/>
                  </a:solidFill>
                </a:rPr>
                <a:t>● 투네이션 999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402080" y="1062990"/>
              <a:ext cx="853440" cy="308610"/>
            </a:xfrm>
            <a:prstGeom prst="roundRect">
              <a:avLst/>
            </a:prstGeom>
            <a:noFill/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유튜브 999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16480" y="1062990"/>
              <a:ext cx="853440" cy="308610"/>
            </a:xfrm>
            <a:prstGeom prst="roundRect">
              <a:avLst/>
            </a:prstGeom>
            <a:noFill/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트위치 999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74720" y="1062990"/>
              <a:ext cx="304800" cy="30861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400" b="1">
                  <a:solidFill>
                    <a:srgbClr val="1B1D22"/>
                  </a:solidFill>
                </a:rPr>
                <a:t>⋮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5760" y="1474470"/>
              <a:ext cx="3413760" cy="308610"/>
            </a:xfrm>
            <a:prstGeom prst="rect">
              <a:avLst/>
            </a:prstGeom>
            <a:solidFill>
              <a:srgbClr val="ECEEF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📢 공지  채팅 매너 지켜주세요. 투표 참여 부탁드려요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26720" y="1885950"/>
              <a:ext cx="487680" cy="219456"/>
            </a:xfrm>
            <a:prstGeom prst="roundRect">
              <a:avLst/>
            </a:prstGeom>
            <a:solidFill>
              <a:srgbClr val="5AC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VIP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75360" y="1885950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단골도네 다음 방송 언제예요?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26720" y="2173986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FR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75360" y="2173986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 방송 잘 보고 있어요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6720" y="2462022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SVIP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" y="2462022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열혈팬1호 오늘도 화이팅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6720" y="2750058"/>
              <a:ext cx="3291840" cy="548640"/>
            </a:xfrm>
            <a:prstGeom prst="rect">
              <a:avLst/>
            </a:prstGeom>
            <a:solidFill>
              <a:srgbClr val="B8B8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SVIP 열혈팬1호                           1,000 캐시</a:t>
              </a:r>
            </a:p>
            <a:p>
              <a:r>
                <a:rPr sz="800" b="0">
                  <a:solidFill>
                    <a:srgbClr val="1B1D22"/>
                  </a:solidFill>
                </a:rPr>
                <a:t>텍스트후원 오늘 방송 미쳤다 후원 받아라~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26720" y="3380994"/>
              <a:ext cx="487680" cy="219456"/>
            </a:xfrm>
            <a:prstGeom prst="roundRect">
              <a:avLst/>
            </a:prstGeom>
            <a:solidFill>
              <a:srgbClr val="5AC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VIP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75360" y="3380994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단골도네 다음 방송 언제예요?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6720" y="3669030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FR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75360" y="3669030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 방송 잘 보고 있어요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26720" y="3957066"/>
              <a:ext cx="487680" cy="219456"/>
            </a:xfrm>
            <a:prstGeom prst="roundRect">
              <a:avLst/>
            </a:prstGeom>
            <a:solidFill>
              <a:srgbClr val="5AC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VIP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75360" y="3957066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단골도네 다음 방송 언제예요?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26720" y="4245102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FR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75360" y="4245102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 방송 잘 보고 있어요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26720" y="5829300"/>
              <a:ext cx="2682240" cy="377190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😊  채팅 입력</a:t>
              </a:r>
            </a:p>
          </p:txBody>
        </p:sp>
        <p:sp>
          <p:nvSpPr>
            <p:cNvPr id="28" name="Rounded Rectangle 27">
              <a:hlinkClick action="ppaction://hlinksldjump" r:id="rId2"/>
            </p:cNvPr>
            <p:cNvSpPr/>
            <p:nvPr/>
          </p:nvSpPr>
          <p:spPr>
            <a:xfrm>
              <a:off x="3169920" y="5829300"/>
              <a:ext cx="609600" cy="377190"/>
            </a:xfrm>
            <a:prstGeom prst="roundRect">
              <a:avLst/>
            </a:prstGeom>
            <a:solidFill>
              <a:srgbClr val="4A55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1">
                  <a:solidFill>
                    <a:srgbClr val="FFFFFF"/>
                  </a:solidFill>
                </a:rPr>
                <a:t>보내기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3413760" y="1028700"/>
            <a:ext cx="402336" cy="377190"/>
          </a:xfrm>
          <a:prstGeom prst="rect">
            <a:avLst/>
          </a:prstGeom>
          <a:noFill/>
          <a:ln w="15875">
            <a:solidFill>
              <a:srgbClr val="E01E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960120"/>
            <a:ext cx="1463040" cy="240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1B1D22"/>
                </a:solidFill>
              </a:rPr>
              <a:t>설정 메뉴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4389120" y="1234440"/>
            <a:ext cx="2682240" cy="3154680"/>
            <a:chOff x="4389120" y="1234440"/>
            <a:chExt cx="2682240" cy="3154680"/>
          </a:xfrm>
        </p:grpSpPr>
        <p:sp>
          <p:nvSpPr>
            <p:cNvPr id="32" name="Rectangle 31"/>
            <p:cNvSpPr/>
            <p:nvPr/>
          </p:nvSpPr>
          <p:spPr>
            <a:xfrm>
              <a:off x="4389120" y="1234440"/>
              <a:ext cx="2682240" cy="31546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Rectangle 32"/>
            <p:cNvSpPr/>
            <p:nvPr/>
          </p:nvSpPr>
          <p:spPr>
            <a:xfrm>
              <a:off x="4511040" y="1303020"/>
              <a:ext cx="1219200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100" b="1">
                  <a:solidFill>
                    <a:srgbClr val="1B1D22"/>
                  </a:solidFill>
                </a:rPr>
                <a:t>설정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11040" y="1645920"/>
              <a:ext cx="975360" cy="2057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노출 설정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511040" y="1885950"/>
              <a:ext cx="1341120" cy="288036"/>
            </a:xfrm>
            <a:prstGeom prst="roundRect">
              <a:avLst/>
            </a:prstGeom>
            <a:solidFill>
              <a:srgbClr val="ECEEF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클린봇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974080" y="1885950"/>
              <a:ext cx="853440" cy="288036"/>
            </a:xfrm>
            <a:prstGeom prst="rect">
              <a:avLst/>
            </a:prstGeom>
            <a:noFill/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중 ▼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511040" y="2228850"/>
              <a:ext cx="1341120" cy="288036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채팅입력제한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974080" y="2228850"/>
              <a:ext cx="853440" cy="288036"/>
            </a:xfrm>
            <a:prstGeom prst="rect">
              <a:avLst/>
            </a:prstGeom>
            <a:noFill/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5초 ▼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4511040" y="2571750"/>
              <a:ext cx="1341120" cy="288036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채팅 얼리기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511040" y="2914650"/>
              <a:ext cx="1219200" cy="288036"/>
            </a:xfrm>
            <a:prstGeom prst="roundRect">
              <a:avLst/>
            </a:prstGeom>
            <a:solidFill>
              <a:srgbClr val="ECEEF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입장 표시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5852160" y="2914650"/>
              <a:ext cx="1097280" cy="288036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글자 크게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511040" y="3291840"/>
              <a:ext cx="975360" cy="2057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부가 기능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4511040" y="3531870"/>
              <a:ext cx="1219200" cy="288036"/>
            </a:xfrm>
            <a:prstGeom prst="roundRect">
              <a:avLst/>
            </a:prstGeom>
            <a:solidFill>
              <a:srgbClr val="ECEEF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투표 만들기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5852160" y="3531870"/>
              <a:ext cx="1097280" cy="288036"/>
            </a:xfrm>
            <a:prstGeom prst="roundRect">
              <a:avLst/>
            </a:prstGeom>
            <a:solidFill>
              <a:srgbClr val="ECEEF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승부 예측</a:t>
              </a:r>
            </a:p>
          </p:txBody>
        </p:sp>
      </p:grpSp>
      <p:cxnSp>
        <p:nvCxnSpPr>
          <p:cNvPr id="45" name="Connector 44"/>
          <p:cNvCxnSpPr>
            <a:stCxn id="29" idx="3"/>
            <a:endCxn id="31" idx="1"/>
          </p:cNvCxnSpPr>
          <p:nvPr/>
        </p:nvCxnSpPr>
        <p:spPr>
          <a:xfrm>
            <a:off x="3816096" y="1217295"/>
            <a:ext cx="573024" cy="1594485"/>
          </a:xfrm>
          <a:prstGeom prst="line">
            <a:avLst/>
          </a:prstGeom>
          <a:ln w="12700">
            <a:solidFill>
              <a:srgbClr val="E01E1E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559040" y="960120"/>
            <a:ext cx="1950720" cy="240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1B1D22"/>
                </a:solidFill>
              </a:rPr>
              <a:t>부가기능 (투표 만들기)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7559040" y="1234440"/>
            <a:ext cx="2438400" cy="2880360"/>
            <a:chOff x="7559040" y="1234440"/>
            <a:chExt cx="2438400" cy="2880360"/>
          </a:xfrm>
        </p:grpSpPr>
        <p:sp>
          <p:nvSpPr>
            <p:cNvPr id="48" name="Rectangle 47"/>
            <p:cNvSpPr/>
            <p:nvPr/>
          </p:nvSpPr>
          <p:spPr>
            <a:xfrm>
              <a:off x="7559040" y="1234440"/>
              <a:ext cx="2438400" cy="28803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Rectangle 48"/>
            <p:cNvSpPr/>
            <p:nvPr/>
          </p:nvSpPr>
          <p:spPr>
            <a:xfrm>
              <a:off x="7680960" y="1303020"/>
              <a:ext cx="1463040" cy="27432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000" b="1">
                  <a:solidFill>
                    <a:srgbClr val="1B1D22"/>
                  </a:solidFill>
                </a:rPr>
                <a:t>📋 투표 만들기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680960" y="1645920"/>
              <a:ext cx="731520" cy="2057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0">
                  <a:solidFill>
                    <a:srgbClr val="1B1D22"/>
                  </a:solidFill>
                </a:rPr>
                <a:t>질문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680960" y="1851660"/>
              <a:ext cx="2194560" cy="308610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오늘 방송 몇 시까지?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680960" y="2228850"/>
              <a:ext cx="975360" cy="20574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0">
                  <a:solidFill>
                    <a:srgbClr val="1B1D22"/>
                  </a:solidFill>
                </a:rPr>
                <a:t>항목 (선택지)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680960" y="2434590"/>
              <a:ext cx="1828800" cy="288036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1시간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7680960" y="2777490"/>
              <a:ext cx="1828800" cy="288036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2시간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7680960" y="3120390"/>
              <a:ext cx="1828800" cy="288036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밤샘 각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680960" y="3566160"/>
              <a:ext cx="2194560" cy="288036"/>
            </a:xfrm>
            <a:prstGeom prst="rect">
              <a:avLst/>
            </a:prstGeom>
            <a:noFill/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4A55E0"/>
                  </a:solidFill>
                </a:rPr>
                <a:t>+ 항목 추가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778240" y="3909060"/>
              <a:ext cx="1097280" cy="6858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cxnSp>
        <p:nvCxnSpPr>
          <p:cNvPr id="58" name="Connector 57"/>
          <p:cNvCxnSpPr>
            <a:endCxn id="47" idx="1"/>
          </p:cNvCxnSpPr>
          <p:nvPr/>
        </p:nvCxnSpPr>
        <p:spPr>
          <a:xfrm flipV="1">
            <a:off x="5120640" y="2674620"/>
            <a:ext cx="2438400" cy="1001268"/>
          </a:xfrm>
          <a:prstGeom prst="line">
            <a:avLst/>
          </a:prstGeom>
          <a:ln>
            <a:solidFill>
              <a:srgbClr val="E01E1E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389120" y="4526280"/>
            <a:ext cx="5120640" cy="822960"/>
          </a:xfrm>
          <a:prstGeom prst="rect">
            <a:avLst/>
          </a:prstGeom>
          <a:noFill/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 b="0">
                <a:solidFill>
                  <a:srgbClr val="1B1D22"/>
                </a:solidFill>
              </a:rPr>
              <a:t>설정 메뉴 설명 | 더보기(⋮) 아이콘 클릭 시 설정 메뉴가 열린다. 크리에이터만 노출. "클린봇" 토글은 ON/OFF, 강도는 약/중/강 드롭다운. "투표 만들기"를 누르면 투표 편집 폼이 뜬다.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46304" y="137160"/>
          <a:ext cx="11887200" cy="30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071360"/>
                <a:gridCol w="1097280"/>
                <a:gridCol w="2255520"/>
              </a:tblGrid>
              <a:tr h="308610">
                <a:tc>
                  <a:txBody>
                    <a:bodyPr/>
                    <a:lstStyle/>
                    <a:p>
                      <a:r>
                        <a:rPr sz="1000"/>
                        <a:t>Page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채팅 입력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투네이션 채팅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46304" y="548640"/>
            <a:ext cx="2438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1B1D22"/>
                </a:solidFill>
              </a:rPr>
              <a:t>채팅 입력 영역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0" y="548640"/>
            <a:ext cx="243840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 b="1">
                <a:solidFill>
                  <a:srgbClr val="FFFFFF"/>
                </a:solidFill>
              </a:rPr>
              <a:t>Description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3840" y="960120"/>
            <a:ext cx="3657600" cy="5486400"/>
            <a:chOff x="243840" y="960120"/>
            <a:chExt cx="3657600" cy="5486400"/>
          </a:xfrm>
        </p:grpSpPr>
        <p:sp>
          <p:nvSpPr>
            <p:cNvPr id="6" name="Rectangle 5"/>
            <p:cNvSpPr/>
            <p:nvPr/>
          </p:nvSpPr>
          <p:spPr>
            <a:xfrm>
              <a:off x="243840" y="960120"/>
              <a:ext cx="3657600" cy="5486400"/>
            </a:xfrm>
            <a:prstGeom prst="rect">
              <a:avLst/>
            </a:prstGeom>
            <a:solidFill>
              <a:srgbClr val="F4F5F8"/>
            </a:solidFill>
            <a:ln>
              <a:solidFill>
                <a:srgbClr val="DD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Rounded Rectangle 6"/>
            <p:cNvSpPr/>
            <p:nvPr/>
          </p:nvSpPr>
          <p:spPr>
            <a:xfrm>
              <a:off x="365760" y="1062990"/>
              <a:ext cx="975360" cy="308610"/>
            </a:xfrm>
            <a:prstGeom prst="roundRect">
              <a:avLst/>
            </a:prstGeom>
            <a:solidFill>
              <a:srgbClr val="4A55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FFFFFF"/>
                  </a:solidFill>
                </a:rPr>
                <a:t>● 투네이션 999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402080" y="1062990"/>
              <a:ext cx="853440" cy="308610"/>
            </a:xfrm>
            <a:prstGeom prst="roundRect">
              <a:avLst/>
            </a:prstGeom>
            <a:noFill/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유튜브 999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16480" y="1062990"/>
              <a:ext cx="853440" cy="308610"/>
            </a:xfrm>
            <a:prstGeom prst="roundRect">
              <a:avLst/>
            </a:prstGeom>
            <a:noFill/>
            <a:ln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● 트위치 999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74720" y="1062990"/>
              <a:ext cx="304800" cy="30861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400" b="1">
                  <a:solidFill>
                    <a:srgbClr val="1B1D22"/>
                  </a:solidFill>
                </a:rPr>
                <a:t>⋮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5760" y="1474470"/>
              <a:ext cx="3413760" cy="308610"/>
            </a:xfrm>
            <a:prstGeom prst="rect">
              <a:avLst/>
            </a:prstGeom>
            <a:solidFill>
              <a:srgbClr val="ECEEF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📢 공지  채팅 매너 지켜주세요. 투표 참여 부탁드려요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26720" y="1885950"/>
              <a:ext cx="487680" cy="219456"/>
            </a:xfrm>
            <a:prstGeom prst="roundRect">
              <a:avLst/>
            </a:prstGeom>
            <a:solidFill>
              <a:srgbClr val="5AC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VIP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75360" y="1885950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단골도네 다음 방송 언제예요?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26720" y="2173986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FR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75360" y="2173986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 방송 잘 보고 있어요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6720" y="2462022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SVIP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" y="2462022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열혈팬1호 오늘도 화이팅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26720" y="2750058"/>
              <a:ext cx="3291840" cy="548640"/>
            </a:xfrm>
            <a:prstGeom prst="rect">
              <a:avLst/>
            </a:prstGeom>
            <a:solidFill>
              <a:srgbClr val="B8B8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SVIP 열혈팬1호                           1,000 캐시</a:t>
              </a:r>
            </a:p>
            <a:p>
              <a:r>
                <a:rPr sz="800" b="0">
                  <a:solidFill>
                    <a:srgbClr val="1B1D22"/>
                  </a:solidFill>
                </a:rPr>
                <a:t>텍스트후원 오늘 방송 미쳤다 후원 받아라~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26720" y="3380994"/>
              <a:ext cx="487680" cy="219456"/>
            </a:xfrm>
            <a:prstGeom prst="roundRect">
              <a:avLst/>
            </a:prstGeom>
            <a:solidFill>
              <a:srgbClr val="5AC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VIP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75360" y="3380994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단골도네 다음 방송 언제예요?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426720" y="3669030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FR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75360" y="3669030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 방송 잘 보고 있어요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26720" y="3957066"/>
              <a:ext cx="487680" cy="219456"/>
            </a:xfrm>
            <a:prstGeom prst="roundRect">
              <a:avLst/>
            </a:prstGeom>
            <a:solidFill>
              <a:srgbClr val="5AC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VIP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75360" y="3957066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단골도네 다음 방송 언제예요?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26720" y="4245102"/>
              <a:ext cx="487680" cy="219456"/>
            </a:xfrm>
            <a:prstGeom prst="roundRect">
              <a:avLst/>
            </a:prstGeom>
            <a:solidFill>
              <a:srgbClr val="55555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700" b="1">
                  <a:solidFill>
                    <a:srgbClr val="FFFFFF"/>
                  </a:solidFill>
                </a:rPr>
                <a:t>FR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75360" y="4245102"/>
              <a:ext cx="2682240" cy="219456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열혈팬 방송 잘 보고 있어요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26720" y="5829300"/>
              <a:ext cx="2682240" cy="377190"/>
            </a:xfrm>
            <a:prstGeom prst="roundRect">
              <a:avLst/>
            </a:prstGeom>
            <a:solidFill>
              <a:srgbClr val="EEEFF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0">
                  <a:solidFill>
                    <a:srgbClr val="1B1D22"/>
                  </a:solidFill>
                </a:rPr>
                <a:t>😊  채팅 입력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169920" y="5829300"/>
              <a:ext cx="609600" cy="377190"/>
            </a:xfrm>
            <a:prstGeom prst="roundRect">
              <a:avLst/>
            </a:prstGeom>
            <a:solidFill>
              <a:srgbClr val="4A55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800" b="1">
                  <a:solidFill>
                    <a:srgbClr val="FFFFFF"/>
                  </a:solidFill>
                </a:rPr>
                <a:t>보내기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365760" y="5795010"/>
            <a:ext cx="670560" cy="445770"/>
          </a:xfrm>
          <a:prstGeom prst="rect">
            <a:avLst/>
          </a:prstGeom>
          <a:noFill/>
          <a:ln w="15875">
            <a:solidFill>
              <a:srgbClr val="E01E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960120"/>
            <a:ext cx="1463040" cy="2400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>
                <a:solidFill>
                  <a:srgbClr val="1B1D22"/>
                </a:solidFill>
              </a:rPr>
              <a:t>입력 영역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389120" y="1234440"/>
          <a:ext cx="51206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3584448"/>
              </a:tblGrid>
              <a:tr h="342900">
                <a:tc>
                  <a:txBody>
                    <a:bodyPr/>
                    <a:lstStyle/>
                    <a:p>
                      <a:r>
                        <a:rPr sz="900"/>
                        <a:t>텍스트 전송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입력 후 Enter 또는 "보내기"로 전송한다. 전송하면 입력창이 비워진다. 최대 120자.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이모티콘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: 뒤에 글자를 입력하면 스티커 후보 팝업이 뜬다. 😊 아이콘 위에 올리면 "이모티콘 선택" 툴팁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멘션 자동완성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@ 뒤에 글자를 입력하면 참여자 닉 후보가 뜨고, 선택 시 @닉 이 삽입된다.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900"/>
                        <a:t>전송 차단 안내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얼리기·저속모드·제재 등으로 전송이 막히면 입력창 하단에 사유가 안내되고 입력이 잠긴다.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2" name="Connector 31"/>
          <p:cNvCxnSpPr>
            <a:stCxn id="29" idx="3"/>
            <a:endCxn id="31" idx="1"/>
          </p:cNvCxnSpPr>
          <p:nvPr/>
        </p:nvCxnSpPr>
        <p:spPr>
          <a:xfrm flipV="1">
            <a:off x="1036320" y="1920240"/>
            <a:ext cx="3352800" cy="4097655"/>
          </a:xfrm>
          <a:prstGeom prst="line">
            <a:avLst/>
          </a:prstGeom>
          <a:ln w="12700">
            <a:solidFill>
              <a:srgbClr val="E01E1E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